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92" r:id="rId5"/>
    <p:sldId id="309" r:id="rId6"/>
    <p:sldId id="310" r:id="rId7"/>
    <p:sldId id="311" r:id="rId8"/>
    <p:sldId id="312" r:id="rId9"/>
    <p:sldId id="313" r:id="rId10"/>
    <p:sldId id="314" r:id="rId11"/>
    <p:sldId id="316" r:id="rId12"/>
    <p:sldId id="317" r:id="rId13"/>
    <p:sldId id="318" r:id="rId14"/>
    <p:sldId id="315"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19" autoAdjust="0"/>
  </p:normalViewPr>
  <p:slideViewPr>
    <p:cSldViewPr snapToGrid="0">
      <p:cViewPr varScale="1">
        <p:scale>
          <a:sx n="98" d="100"/>
          <a:sy n="98" d="100"/>
        </p:scale>
        <p:origin x="110" y="18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5509919-36B5-4162-8899-417A9F93473B}" type="doc">
      <dgm:prSet loTypeId="urn:microsoft.com/office/officeart/2016/7/layout/LinearBlockProcessNumbered#1" loCatId="process" qsTypeId="urn:microsoft.com/office/officeart/2005/8/quickstyle/simple2" qsCatId="simple" csTypeId="urn:microsoft.com/office/officeart/2005/8/colors/accent0_3" csCatId="mainScheme" phldr="1"/>
      <dgm:spPr/>
      <dgm:t>
        <a:bodyPr/>
        <a:lstStyle/>
        <a:p>
          <a:endParaRPr lang="en-US"/>
        </a:p>
      </dgm:t>
    </dgm:pt>
    <dgm:pt modelId="{AAF9DEE3-8444-4CA1-8BC2-D834D3ED6C74}">
      <dgm:prSet custT="1"/>
      <dgm:spPr/>
      <dgm:t>
        <a:bodyPr/>
        <a:lstStyle/>
        <a:p>
          <a:r>
            <a:rPr lang="en-US" sz="2400" dirty="0"/>
            <a:t>Introduction</a:t>
          </a:r>
        </a:p>
      </dgm:t>
    </dgm:pt>
    <dgm:pt modelId="{205BDF49-153E-4CE8-8402-E23704595764}" type="parTrans" cxnId="{0A7DA706-17DD-412A-8BE0-4F6529274E66}">
      <dgm:prSet/>
      <dgm:spPr/>
      <dgm:t>
        <a:bodyPr/>
        <a:lstStyle/>
        <a:p>
          <a:endParaRPr lang="en-US"/>
        </a:p>
      </dgm:t>
    </dgm:pt>
    <dgm:pt modelId="{23210C7F-6847-491E-BE1F-A79529AF2B8B}" type="sibTrans" cxnId="{0A7DA706-17DD-412A-8BE0-4F6529274E66}">
      <dgm:prSet phldrT="01" phldr="0"/>
      <dgm:spPr/>
      <dgm:t>
        <a:bodyPr/>
        <a:lstStyle/>
        <a:p>
          <a:r>
            <a:rPr lang="en-US"/>
            <a:t>01</a:t>
          </a:r>
          <a:endParaRPr lang="en-US" dirty="0"/>
        </a:p>
      </dgm:t>
    </dgm:pt>
    <dgm:pt modelId="{B2B879BD-3840-400C-92BD-B2C2383358D7}">
      <dgm:prSet custT="1"/>
      <dgm:spPr/>
      <dgm:t>
        <a:bodyPr/>
        <a:lstStyle/>
        <a:p>
          <a:r>
            <a:rPr lang="en-IN" sz="2400" b="0" i="0" dirty="0"/>
            <a:t>Detection Approaches</a:t>
          </a:r>
          <a:endParaRPr lang="en-US" sz="2400" dirty="0"/>
        </a:p>
      </dgm:t>
    </dgm:pt>
    <dgm:pt modelId="{09440D86-F3E6-4A3C-9E78-1AFC56348641}" type="parTrans" cxnId="{42CDCACA-F394-4044-BBF6-522A0005ABCB}">
      <dgm:prSet/>
      <dgm:spPr/>
      <dgm:t>
        <a:bodyPr/>
        <a:lstStyle/>
        <a:p>
          <a:endParaRPr lang="en-US"/>
        </a:p>
      </dgm:t>
    </dgm:pt>
    <dgm:pt modelId="{FBAA44FF-54DE-45C8-9FAC-512C40277233}" type="sibTrans" cxnId="{42CDCACA-F394-4044-BBF6-522A0005ABCB}">
      <dgm:prSet phldrT="02" phldr="0"/>
      <dgm:spPr/>
      <dgm:t>
        <a:bodyPr/>
        <a:lstStyle/>
        <a:p>
          <a:r>
            <a:rPr lang="en-US"/>
            <a:t>02</a:t>
          </a:r>
          <a:endParaRPr lang="en-US" dirty="0"/>
        </a:p>
      </dgm:t>
    </dgm:pt>
    <dgm:pt modelId="{CA9D674E-4FF1-45DC-82E4-0B2DB6A5363F}">
      <dgm:prSet/>
      <dgm:spPr/>
      <dgm:t>
        <a:bodyPr/>
        <a:lstStyle/>
        <a:p>
          <a:endParaRPr lang="en-US" dirty="0"/>
        </a:p>
      </dgm:t>
    </dgm:pt>
    <dgm:pt modelId="{F1F10F9B-925A-4787-9D00-91106497A02E}" type="parTrans" cxnId="{C5BD0B3A-2D82-4EC1-9975-05076C4418DA}">
      <dgm:prSet/>
      <dgm:spPr/>
      <dgm:t>
        <a:bodyPr/>
        <a:lstStyle/>
        <a:p>
          <a:endParaRPr lang="en-US"/>
        </a:p>
      </dgm:t>
    </dgm:pt>
    <dgm:pt modelId="{196DA4DC-9DD2-4A39-8A3A-D367BFE5A8BA}" type="sibTrans" cxnId="{C5BD0B3A-2D82-4EC1-9975-05076C4418DA}">
      <dgm:prSet phldrT="03" phldr="0"/>
      <dgm:spPr/>
      <dgm:t>
        <a:bodyPr/>
        <a:lstStyle/>
        <a:p>
          <a:r>
            <a:rPr lang="en-US"/>
            <a:t>03</a:t>
          </a:r>
          <a:endParaRPr lang="en-US" dirty="0"/>
        </a:p>
      </dgm:t>
    </dgm:pt>
    <dgm:pt modelId="{5BC99281-576F-4457-8551-CA81C521EC17}">
      <dgm:prSet/>
      <dgm:spPr/>
      <dgm:t>
        <a:bodyPr/>
        <a:lstStyle/>
        <a:p>
          <a:r>
            <a:rPr lang="en-IN" b="0" i="0"/>
            <a:t>Conclusion</a:t>
          </a:r>
        </a:p>
      </dgm:t>
    </dgm:pt>
    <dgm:pt modelId="{C366D2CC-EE9C-4C9D-A36B-FC9FF18C66A8}" type="parTrans" cxnId="{57BD2924-49DA-4984-9E97-C7306B5B03DF}">
      <dgm:prSet/>
      <dgm:spPr/>
      <dgm:t>
        <a:bodyPr/>
        <a:lstStyle/>
        <a:p>
          <a:endParaRPr lang="en-IN"/>
        </a:p>
      </dgm:t>
    </dgm:pt>
    <dgm:pt modelId="{7DBCEA3C-78C7-4393-9BB5-068836188E53}" type="sibTrans" cxnId="{57BD2924-49DA-4984-9E97-C7306B5B03DF}">
      <dgm:prSet phldrT="04" phldr="0"/>
      <dgm:spPr/>
      <dgm:t>
        <a:bodyPr/>
        <a:lstStyle/>
        <a:p>
          <a:r>
            <a:rPr lang="en-IN"/>
            <a:t>04</a:t>
          </a:r>
        </a:p>
      </dgm:t>
    </dgm:pt>
    <dgm:pt modelId="{09F899AB-70CA-46DA-8F8C-58514A9FEF67}" type="pres">
      <dgm:prSet presAssocID="{15509919-36B5-4162-8899-417A9F93473B}" presName="Name0" presStyleCnt="0">
        <dgm:presLayoutVars>
          <dgm:animLvl val="lvl"/>
          <dgm:resizeHandles val="exact"/>
        </dgm:presLayoutVars>
      </dgm:prSet>
      <dgm:spPr/>
    </dgm:pt>
    <dgm:pt modelId="{9E708B2C-9056-43B8-820C-8D4D2D591614}" type="pres">
      <dgm:prSet presAssocID="{AAF9DEE3-8444-4CA1-8BC2-D834D3ED6C74}" presName="compositeNode" presStyleCnt="0">
        <dgm:presLayoutVars>
          <dgm:bulletEnabled val="1"/>
        </dgm:presLayoutVars>
      </dgm:prSet>
      <dgm:spPr/>
    </dgm:pt>
    <dgm:pt modelId="{F4992080-7D4E-4F2B-B608-170DDBB6006A}" type="pres">
      <dgm:prSet presAssocID="{AAF9DEE3-8444-4CA1-8BC2-D834D3ED6C74}" presName="bgRect" presStyleLbl="alignNode1" presStyleIdx="0" presStyleCnt="4"/>
      <dgm:spPr/>
    </dgm:pt>
    <dgm:pt modelId="{15536E38-36FE-4A51-B620-2715BFAD5475}" type="pres">
      <dgm:prSet presAssocID="{23210C7F-6847-491E-BE1F-A79529AF2B8B}" presName="sibTransNodeRect" presStyleLbl="alignNode1" presStyleIdx="0" presStyleCnt="4">
        <dgm:presLayoutVars>
          <dgm:chMax val="0"/>
          <dgm:bulletEnabled val="1"/>
        </dgm:presLayoutVars>
      </dgm:prSet>
      <dgm:spPr/>
    </dgm:pt>
    <dgm:pt modelId="{B158057C-23C1-45AE-9273-5935A8F6104B}" type="pres">
      <dgm:prSet presAssocID="{AAF9DEE3-8444-4CA1-8BC2-D834D3ED6C74}" presName="nodeRect" presStyleLbl="alignNode1" presStyleIdx="0" presStyleCnt="4">
        <dgm:presLayoutVars>
          <dgm:bulletEnabled val="1"/>
        </dgm:presLayoutVars>
      </dgm:prSet>
      <dgm:spPr/>
    </dgm:pt>
    <dgm:pt modelId="{5D52B8B6-958E-480C-9455-911A104C8C73}" type="pres">
      <dgm:prSet presAssocID="{23210C7F-6847-491E-BE1F-A79529AF2B8B}" presName="sibTrans" presStyleCnt="0"/>
      <dgm:spPr/>
    </dgm:pt>
    <dgm:pt modelId="{070CFBFA-AE62-406D-B2E3-4A871FE3EC95}" type="pres">
      <dgm:prSet presAssocID="{B2B879BD-3840-400C-92BD-B2C2383358D7}" presName="compositeNode" presStyleCnt="0">
        <dgm:presLayoutVars>
          <dgm:bulletEnabled val="1"/>
        </dgm:presLayoutVars>
      </dgm:prSet>
      <dgm:spPr/>
    </dgm:pt>
    <dgm:pt modelId="{89A9B4CF-6439-46B1-B6A9-1D6CD5034774}" type="pres">
      <dgm:prSet presAssocID="{B2B879BD-3840-400C-92BD-B2C2383358D7}" presName="bgRect" presStyleLbl="alignNode1" presStyleIdx="1" presStyleCnt="4"/>
      <dgm:spPr/>
    </dgm:pt>
    <dgm:pt modelId="{379B8CE4-8135-4F2C-A5A0-E55EBE328E9A}" type="pres">
      <dgm:prSet presAssocID="{FBAA44FF-54DE-45C8-9FAC-512C40277233}" presName="sibTransNodeRect" presStyleLbl="alignNode1" presStyleIdx="1" presStyleCnt="4">
        <dgm:presLayoutVars>
          <dgm:chMax val="0"/>
          <dgm:bulletEnabled val="1"/>
        </dgm:presLayoutVars>
      </dgm:prSet>
      <dgm:spPr/>
    </dgm:pt>
    <dgm:pt modelId="{9F2B2B99-E41C-48B6-9241-186B3896CDB2}" type="pres">
      <dgm:prSet presAssocID="{B2B879BD-3840-400C-92BD-B2C2383358D7}" presName="nodeRect" presStyleLbl="alignNode1" presStyleIdx="1" presStyleCnt="4">
        <dgm:presLayoutVars>
          <dgm:bulletEnabled val="1"/>
        </dgm:presLayoutVars>
      </dgm:prSet>
      <dgm:spPr/>
    </dgm:pt>
    <dgm:pt modelId="{88CC7DDE-DA0F-42A6-8406-A11161BD6BA9}" type="pres">
      <dgm:prSet presAssocID="{FBAA44FF-54DE-45C8-9FAC-512C40277233}" presName="sibTrans" presStyleCnt="0"/>
      <dgm:spPr/>
    </dgm:pt>
    <dgm:pt modelId="{4C550E1C-ACB2-4A5D-BD4A-3D5D60E405E6}" type="pres">
      <dgm:prSet presAssocID="{CA9D674E-4FF1-45DC-82E4-0B2DB6A5363F}" presName="compositeNode" presStyleCnt="0">
        <dgm:presLayoutVars>
          <dgm:bulletEnabled val="1"/>
        </dgm:presLayoutVars>
      </dgm:prSet>
      <dgm:spPr/>
    </dgm:pt>
    <dgm:pt modelId="{0802B4A8-7224-4B0A-95B7-D17AEB2B2AFF}" type="pres">
      <dgm:prSet presAssocID="{CA9D674E-4FF1-45DC-82E4-0B2DB6A5363F}" presName="bgRect" presStyleLbl="alignNode1" presStyleIdx="2" presStyleCnt="4"/>
      <dgm:spPr/>
    </dgm:pt>
    <dgm:pt modelId="{68AC9669-DC11-473A-AA2E-579A44E78C37}" type="pres">
      <dgm:prSet presAssocID="{196DA4DC-9DD2-4A39-8A3A-D367BFE5A8BA}" presName="sibTransNodeRect" presStyleLbl="alignNode1" presStyleIdx="2" presStyleCnt="4">
        <dgm:presLayoutVars>
          <dgm:chMax val="0"/>
          <dgm:bulletEnabled val="1"/>
        </dgm:presLayoutVars>
      </dgm:prSet>
      <dgm:spPr/>
    </dgm:pt>
    <dgm:pt modelId="{D085015A-41AF-4EFA-A104-4FD73B2362F0}" type="pres">
      <dgm:prSet presAssocID="{CA9D674E-4FF1-45DC-82E4-0B2DB6A5363F}" presName="nodeRect" presStyleLbl="alignNode1" presStyleIdx="2" presStyleCnt="4">
        <dgm:presLayoutVars>
          <dgm:bulletEnabled val="1"/>
        </dgm:presLayoutVars>
      </dgm:prSet>
      <dgm:spPr/>
    </dgm:pt>
    <dgm:pt modelId="{AF56DD69-9533-4C74-A204-9E1FA0099127}" type="pres">
      <dgm:prSet presAssocID="{196DA4DC-9DD2-4A39-8A3A-D367BFE5A8BA}" presName="sibTrans" presStyleCnt="0"/>
      <dgm:spPr/>
    </dgm:pt>
    <dgm:pt modelId="{A469C45A-D45C-4D3B-B4E8-A4DA5A92FD46}" type="pres">
      <dgm:prSet presAssocID="{5BC99281-576F-4457-8551-CA81C521EC17}" presName="compositeNode" presStyleCnt="0">
        <dgm:presLayoutVars>
          <dgm:bulletEnabled val="1"/>
        </dgm:presLayoutVars>
      </dgm:prSet>
      <dgm:spPr/>
    </dgm:pt>
    <dgm:pt modelId="{E8BC1477-DB3A-41E4-B00D-CF2D933D15BE}" type="pres">
      <dgm:prSet presAssocID="{5BC99281-576F-4457-8551-CA81C521EC17}" presName="bgRect" presStyleLbl="alignNode1" presStyleIdx="3" presStyleCnt="4"/>
      <dgm:spPr/>
    </dgm:pt>
    <dgm:pt modelId="{460BF362-C244-4EF9-B61D-1AC955F4C5C3}" type="pres">
      <dgm:prSet presAssocID="{7DBCEA3C-78C7-4393-9BB5-068836188E53}" presName="sibTransNodeRect" presStyleLbl="alignNode1" presStyleIdx="3" presStyleCnt="4">
        <dgm:presLayoutVars>
          <dgm:chMax val="0"/>
          <dgm:bulletEnabled val="1"/>
        </dgm:presLayoutVars>
      </dgm:prSet>
      <dgm:spPr/>
    </dgm:pt>
    <dgm:pt modelId="{D64BE0B9-7409-4A8F-8A7E-4B1FD9F85AC6}" type="pres">
      <dgm:prSet presAssocID="{5BC99281-576F-4457-8551-CA81C521EC17}" presName="nodeRect" presStyleLbl="alignNode1" presStyleIdx="3" presStyleCnt="4">
        <dgm:presLayoutVars>
          <dgm:bulletEnabled val="1"/>
        </dgm:presLayoutVars>
      </dgm:prSet>
      <dgm:spPr/>
    </dgm:pt>
  </dgm:ptLst>
  <dgm:cxnLst>
    <dgm:cxn modelId="{B43DCF03-D70C-4457-9208-EBBFA14B5BC6}" type="presOf" srcId="{5BC99281-576F-4457-8551-CA81C521EC17}" destId="{E8BC1477-DB3A-41E4-B00D-CF2D933D15BE}" srcOrd="0" destOrd="0" presId="urn:microsoft.com/office/officeart/2016/7/layout/LinearBlockProcessNumbered#1"/>
    <dgm:cxn modelId="{0A7DA706-17DD-412A-8BE0-4F6529274E66}" srcId="{15509919-36B5-4162-8899-417A9F93473B}" destId="{AAF9DEE3-8444-4CA1-8BC2-D834D3ED6C74}" srcOrd="0" destOrd="0" parTransId="{205BDF49-153E-4CE8-8402-E23704595764}" sibTransId="{23210C7F-6847-491E-BE1F-A79529AF2B8B}"/>
    <dgm:cxn modelId="{109C0B15-B806-4127-A7EA-6F2FD85C2B5C}" type="presOf" srcId="{AAF9DEE3-8444-4CA1-8BC2-D834D3ED6C74}" destId="{B158057C-23C1-45AE-9273-5935A8F6104B}" srcOrd="1" destOrd="0" presId="urn:microsoft.com/office/officeart/2016/7/layout/LinearBlockProcessNumbered#1"/>
    <dgm:cxn modelId="{284ED317-FBD3-4318-9DC1-43DD0A7A84DA}" type="presOf" srcId="{CA9D674E-4FF1-45DC-82E4-0B2DB6A5363F}" destId="{D085015A-41AF-4EFA-A104-4FD73B2362F0}" srcOrd="1" destOrd="0" presId="urn:microsoft.com/office/officeart/2016/7/layout/LinearBlockProcessNumbered#1"/>
    <dgm:cxn modelId="{28938E20-006F-438A-BC3B-539C09A41AF8}" type="presOf" srcId="{23210C7F-6847-491E-BE1F-A79529AF2B8B}" destId="{15536E38-36FE-4A51-B620-2715BFAD5475}" srcOrd="0" destOrd="0" presId="urn:microsoft.com/office/officeart/2016/7/layout/LinearBlockProcessNumbered#1"/>
    <dgm:cxn modelId="{57BD2924-49DA-4984-9E97-C7306B5B03DF}" srcId="{15509919-36B5-4162-8899-417A9F93473B}" destId="{5BC99281-576F-4457-8551-CA81C521EC17}" srcOrd="3" destOrd="0" parTransId="{C366D2CC-EE9C-4C9D-A36B-FC9FF18C66A8}" sibTransId="{7DBCEA3C-78C7-4393-9BB5-068836188E53}"/>
    <dgm:cxn modelId="{9519B82E-A537-470B-AA27-A5E33C934F3E}" type="presOf" srcId="{196DA4DC-9DD2-4A39-8A3A-D367BFE5A8BA}" destId="{68AC9669-DC11-473A-AA2E-579A44E78C37}" srcOrd="0" destOrd="0" presId="urn:microsoft.com/office/officeart/2016/7/layout/LinearBlockProcessNumbered#1"/>
    <dgm:cxn modelId="{E774C62E-62A2-478F-B2D4-49AC51F9A4FC}" type="presOf" srcId="{FBAA44FF-54DE-45C8-9FAC-512C40277233}" destId="{379B8CE4-8135-4F2C-A5A0-E55EBE328E9A}" srcOrd="0" destOrd="0" presId="urn:microsoft.com/office/officeart/2016/7/layout/LinearBlockProcessNumbered#1"/>
    <dgm:cxn modelId="{C5BD0B3A-2D82-4EC1-9975-05076C4418DA}" srcId="{15509919-36B5-4162-8899-417A9F93473B}" destId="{CA9D674E-4FF1-45DC-82E4-0B2DB6A5363F}" srcOrd="2" destOrd="0" parTransId="{F1F10F9B-925A-4787-9D00-91106497A02E}" sibTransId="{196DA4DC-9DD2-4A39-8A3A-D367BFE5A8BA}"/>
    <dgm:cxn modelId="{6E5EF465-680F-4962-87CA-2B44BA61BBF3}" type="presOf" srcId="{AAF9DEE3-8444-4CA1-8BC2-D834D3ED6C74}" destId="{F4992080-7D4E-4F2B-B608-170DDBB6006A}" srcOrd="0" destOrd="0" presId="urn:microsoft.com/office/officeart/2016/7/layout/LinearBlockProcessNumbered#1"/>
    <dgm:cxn modelId="{BE05FF76-48E4-476C-9495-A13A63321F9B}" type="presOf" srcId="{B2B879BD-3840-400C-92BD-B2C2383358D7}" destId="{89A9B4CF-6439-46B1-B6A9-1D6CD5034774}" srcOrd="0" destOrd="0" presId="urn:microsoft.com/office/officeart/2016/7/layout/LinearBlockProcessNumbered#1"/>
    <dgm:cxn modelId="{AEC6D081-73F8-41AD-9101-B43295B68E14}" type="presOf" srcId="{CA9D674E-4FF1-45DC-82E4-0B2DB6A5363F}" destId="{0802B4A8-7224-4B0A-95B7-D17AEB2B2AFF}" srcOrd="0" destOrd="0" presId="urn:microsoft.com/office/officeart/2016/7/layout/LinearBlockProcessNumbered#1"/>
    <dgm:cxn modelId="{A809A5AD-2E65-4DED-8D0B-AF15576DD5F3}" type="presOf" srcId="{7DBCEA3C-78C7-4393-9BB5-068836188E53}" destId="{460BF362-C244-4EF9-B61D-1AC955F4C5C3}" srcOrd="0" destOrd="0" presId="urn:microsoft.com/office/officeart/2016/7/layout/LinearBlockProcessNumbered#1"/>
    <dgm:cxn modelId="{0CFF69BA-4415-496F-8C86-99FAA28A4A6A}" type="presOf" srcId="{5BC99281-576F-4457-8551-CA81C521EC17}" destId="{D64BE0B9-7409-4A8F-8A7E-4B1FD9F85AC6}" srcOrd="1" destOrd="0" presId="urn:microsoft.com/office/officeart/2016/7/layout/LinearBlockProcessNumbered#1"/>
    <dgm:cxn modelId="{840BB0C7-181A-4BA4-9324-C35937B4BA77}" type="presOf" srcId="{15509919-36B5-4162-8899-417A9F93473B}" destId="{09F899AB-70CA-46DA-8F8C-58514A9FEF67}" srcOrd="0" destOrd="0" presId="urn:microsoft.com/office/officeart/2016/7/layout/LinearBlockProcessNumbered#1"/>
    <dgm:cxn modelId="{42CDCACA-F394-4044-BBF6-522A0005ABCB}" srcId="{15509919-36B5-4162-8899-417A9F93473B}" destId="{B2B879BD-3840-400C-92BD-B2C2383358D7}" srcOrd="1" destOrd="0" parTransId="{09440D86-F3E6-4A3C-9E78-1AFC56348641}" sibTransId="{FBAA44FF-54DE-45C8-9FAC-512C40277233}"/>
    <dgm:cxn modelId="{6AB3E3E3-CAC3-4821-AAD0-21289FC8AF3F}" type="presOf" srcId="{B2B879BD-3840-400C-92BD-B2C2383358D7}" destId="{9F2B2B99-E41C-48B6-9241-186B3896CDB2}" srcOrd="1" destOrd="0" presId="urn:microsoft.com/office/officeart/2016/7/layout/LinearBlockProcessNumbered#1"/>
    <dgm:cxn modelId="{90D3E440-E32E-4616-A794-C357B58C725C}" type="presParOf" srcId="{09F899AB-70CA-46DA-8F8C-58514A9FEF67}" destId="{9E708B2C-9056-43B8-820C-8D4D2D591614}" srcOrd="0" destOrd="0" presId="urn:microsoft.com/office/officeart/2016/7/layout/LinearBlockProcessNumbered#1"/>
    <dgm:cxn modelId="{94905F72-0547-4876-85BD-1CE201853F0E}" type="presParOf" srcId="{9E708B2C-9056-43B8-820C-8D4D2D591614}" destId="{F4992080-7D4E-4F2B-B608-170DDBB6006A}" srcOrd="0" destOrd="0" presId="urn:microsoft.com/office/officeart/2016/7/layout/LinearBlockProcessNumbered#1"/>
    <dgm:cxn modelId="{32F232D9-C82F-455D-A4CB-8A6F950974CB}" type="presParOf" srcId="{9E708B2C-9056-43B8-820C-8D4D2D591614}" destId="{15536E38-36FE-4A51-B620-2715BFAD5475}" srcOrd="1" destOrd="0" presId="urn:microsoft.com/office/officeart/2016/7/layout/LinearBlockProcessNumbered#1"/>
    <dgm:cxn modelId="{E1630E94-0972-452E-A256-8FE168492E2F}" type="presParOf" srcId="{9E708B2C-9056-43B8-820C-8D4D2D591614}" destId="{B158057C-23C1-45AE-9273-5935A8F6104B}" srcOrd="2" destOrd="0" presId="urn:microsoft.com/office/officeart/2016/7/layout/LinearBlockProcessNumbered#1"/>
    <dgm:cxn modelId="{3D53040A-6114-439D-91AE-A92823686B42}" type="presParOf" srcId="{09F899AB-70CA-46DA-8F8C-58514A9FEF67}" destId="{5D52B8B6-958E-480C-9455-911A104C8C73}" srcOrd="1" destOrd="0" presId="urn:microsoft.com/office/officeart/2016/7/layout/LinearBlockProcessNumbered#1"/>
    <dgm:cxn modelId="{71CD1E60-9941-432A-AAD3-6BEE9759C7CA}" type="presParOf" srcId="{09F899AB-70CA-46DA-8F8C-58514A9FEF67}" destId="{070CFBFA-AE62-406D-B2E3-4A871FE3EC95}" srcOrd="2" destOrd="0" presId="urn:microsoft.com/office/officeart/2016/7/layout/LinearBlockProcessNumbered#1"/>
    <dgm:cxn modelId="{E24E5F24-B05D-485A-B1E3-F029361EAC2F}" type="presParOf" srcId="{070CFBFA-AE62-406D-B2E3-4A871FE3EC95}" destId="{89A9B4CF-6439-46B1-B6A9-1D6CD5034774}" srcOrd="0" destOrd="0" presId="urn:microsoft.com/office/officeart/2016/7/layout/LinearBlockProcessNumbered#1"/>
    <dgm:cxn modelId="{B1A2A29E-FBA6-4188-BE73-D4752962B995}" type="presParOf" srcId="{070CFBFA-AE62-406D-B2E3-4A871FE3EC95}" destId="{379B8CE4-8135-4F2C-A5A0-E55EBE328E9A}" srcOrd="1" destOrd="0" presId="urn:microsoft.com/office/officeart/2016/7/layout/LinearBlockProcessNumbered#1"/>
    <dgm:cxn modelId="{F07F5881-E747-4C57-B3A8-80D81CA9E653}" type="presParOf" srcId="{070CFBFA-AE62-406D-B2E3-4A871FE3EC95}" destId="{9F2B2B99-E41C-48B6-9241-186B3896CDB2}" srcOrd="2" destOrd="0" presId="urn:microsoft.com/office/officeart/2016/7/layout/LinearBlockProcessNumbered#1"/>
    <dgm:cxn modelId="{CFE97617-C516-4DC5-9F9C-80DAA0EDE08F}" type="presParOf" srcId="{09F899AB-70CA-46DA-8F8C-58514A9FEF67}" destId="{88CC7DDE-DA0F-42A6-8406-A11161BD6BA9}" srcOrd="3" destOrd="0" presId="urn:microsoft.com/office/officeart/2016/7/layout/LinearBlockProcessNumbered#1"/>
    <dgm:cxn modelId="{B7A23FED-2302-47D8-8E80-C7B4D99F0301}" type="presParOf" srcId="{09F899AB-70CA-46DA-8F8C-58514A9FEF67}" destId="{4C550E1C-ACB2-4A5D-BD4A-3D5D60E405E6}" srcOrd="4" destOrd="0" presId="urn:microsoft.com/office/officeart/2016/7/layout/LinearBlockProcessNumbered#1"/>
    <dgm:cxn modelId="{B9E766C8-B1F9-4299-93D9-C5605EEE5998}" type="presParOf" srcId="{4C550E1C-ACB2-4A5D-BD4A-3D5D60E405E6}" destId="{0802B4A8-7224-4B0A-95B7-D17AEB2B2AFF}" srcOrd="0" destOrd="0" presId="urn:microsoft.com/office/officeart/2016/7/layout/LinearBlockProcessNumbered#1"/>
    <dgm:cxn modelId="{DDDBCEBE-059F-40AD-A1D1-8D888A5BCC15}" type="presParOf" srcId="{4C550E1C-ACB2-4A5D-BD4A-3D5D60E405E6}" destId="{68AC9669-DC11-473A-AA2E-579A44E78C37}" srcOrd="1" destOrd="0" presId="urn:microsoft.com/office/officeart/2016/7/layout/LinearBlockProcessNumbered#1"/>
    <dgm:cxn modelId="{90FC101C-CCF0-411F-ABB9-797553DF6D08}" type="presParOf" srcId="{4C550E1C-ACB2-4A5D-BD4A-3D5D60E405E6}" destId="{D085015A-41AF-4EFA-A104-4FD73B2362F0}" srcOrd="2" destOrd="0" presId="urn:microsoft.com/office/officeart/2016/7/layout/LinearBlockProcessNumbered#1"/>
    <dgm:cxn modelId="{B05D8D9F-74D6-4346-8B13-1D75CA6A09B2}" type="presParOf" srcId="{09F899AB-70CA-46DA-8F8C-58514A9FEF67}" destId="{AF56DD69-9533-4C74-A204-9E1FA0099127}" srcOrd="5" destOrd="0" presId="urn:microsoft.com/office/officeart/2016/7/layout/LinearBlockProcessNumbered#1"/>
    <dgm:cxn modelId="{F1771449-3724-446E-845F-BF50D0C4028C}" type="presParOf" srcId="{09F899AB-70CA-46DA-8F8C-58514A9FEF67}" destId="{A469C45A-D45C-4D3B-B4E8-A4DA5A92FD46}" srcOrd="6" destOrd="0" presId="urn:microsoft.com/office/officeart/2016/7/layout/LinearBlockProcessNumbered#1"/>
    <dgm:cxn modelId="{2621DE8B-0743-439B-B542-2AFEA5E1734A}" type="presParOf" srcId="{A469C45A-D45C-4D3B-B4E8-A4DA5A92FD46}" destId="{E8BC1477-DB3A-41E4-B00D-CF2D933D15BE}" srcOrd="0" destOrd="0" presId="urn:microsoft.com/office/officeart/2016/7/layout/LinearBlockProcessNumbered#1"/>
    <dgm:cxn modelId="{220C78AD-3A34-40E6-B55B-B549DC78DF09}" type="presParOf" srcId="{A469C45A-D45C-4D3B-B4E8-A4DA5A92FD46}" destId="{460BF362-C244-4EF9-B61D-1AC955F4C5C3}" srcOrd="1" destOrd="0" presId="urn:microsoft.com/office/officeart/2016/7/layout/LinearBlockProcessNumbered#1"/>
    <dgm:cxn modelId="{4245368A-CF80-445C-B5A4-1988CBC15A64}" type="presParOf" srcId="{A469C45A-D45C-4D3B-B4E8-A4DA5A92FD46}" destId="{D64BE0B9-7409-4A8F-8A7E-4B1FD9F85AC6}" srcOrd="2" destOrd="0" presId="urn:microsoft.com/office/officeart/2016/7/layout/LinearBlockProcessNumbered#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992080-7D4E-4F2B-B608-170DDBB6006A}">
      <dsp:nvSpPr>
        <dsp:cNvPr id="0" name=""/>
        <dsp:cNvSpPr/>
      </dsp:nvSpPr>
      <dsp:spPr>
        <a:xfrm>
          <a:off x="196" y="439503"/>
          <a:ext cx="2372171" cy="2846605"/>
        </a:xfrm>
        <a:prstGeom prst="rect">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234318" tIns="0" rIns="234318" bIns="330200" numCol="1" spcCol="1270" anchor="t" anchorCtr="0">
          <a:noAutofit/>
        </a:bodyPr>
        <a:lstStyle/>
        <a:p>
          <a:pPr marL="0" lvl="0" indent="0" algn="l" defTabSz="1066800">
            <a:lnSpc>
              <a:spcPct val="90000"/>
            </a:lnSpc>
            <a:spcBef>
              <a:spcPct val="0"/>
            </a:spcBef>
            <a:spcAft>
              <a:spcPct val="35000"/>
            </a:spcAft>
            <a:buNone/>
          </a:pPr>
          <a:r>
            <a:rPr lang="en-US" sz="2400" kern="1200" dirty="0"/>
            <a:t>Introduction</a:t>
          </a:r>
        </a:p>
      </dsp:txBody>
      <dsp:txXfrm>
        <a:off x="196" y="1578145"/>
        <a:ext cx="2372171" cy="1707963"/>
      </dsp:txXfrm>
    </dsp:sp>
    <dsp:sp modelId="{15536E38-36FE-4A51-B620-2715BFAD5475}">
      <dsp:nvSpPr>
        <dsp:cNvPr id="0" name=""/>
        <dsp:cNvSpPr/>
      </dsp:nvSpPr>
      <dsp:spPr>
        <a:xfrm>
          <a:off x="196" y="439503"/>
          <a:ext cx="2372171" cy="1138642"/>
        </a:xfrm>
        <a:prstGeom prst="rect">
          <a:avLst/>
        </a:prstGeom>
        <a:noFill/>
        <a:ln w="12700" cap="flat" cmpd="sng" algn="ctr">
          <a:noFill/>
          <a:prstDash val="solid"/>
        </a:ln>
        <a:effectLst/>
        <a:sp3d/>
      </dsp:spPr>
      <dsp:style>
        <a:lnRef idx="2">
          <a:scrgbClr r="0" g="0" b="0"/>
        </a:lnRef>
        <a:fillRef idx="1">
          <a:scrgbClr r="0" g="0" b="0"/>
        </a:fillRef>
        <a:effectRef idx="1">
          <a:scrgbClr r="0" g="0" b="0"/>
        </a:effectRef>
        <a:fontRef idx="minor">
          <a:schemeClr val="lt1"/>
        </a:fontRef>
      </dsp:style>
      <dsp:txBody>
        <a:bodyPr spcFirstLastPara="0" vert="horz" wrap="square" lIns="234318" tIns="165100" rIns="234318" bIns="165100" numCol="1" spcCol="1270" anchor="ctr" anchorCtr="0">
          <a:noAutofit/>
        </a:bodyPr>
        <a:lstStyle/>
        <a:p>
          <a:pPr marL="0" lvl="0" indent="0" algn="l" defTabSz="2622550">
            <a:lnSpc>
              <a:spcPct val="90000"/>
            </a:lnSpc>
            <a:spcBef>
              <a:spcPct val="0"/>
            </a:spcBef>
            <a:spcAft>
              <a:spcPct val="35000"/>
            </a:spcAft>
            <a:buNone/>
          </a:pPr>
          <a:r>
            <a:rPr lang="en-US" sz="5900" kern="1200"/>
            <a:t>01</a:t>
          </a:r>
          <a:endParaRPr lang="en-US" sz="5900" kern="1200" dirty="0"/>
        </a:p>
      </dsp:txBody>
      <dsp:txXfrm>
        <a:off x="196" y="439503"/>
        <a:ext cx="2372171" cy="1138642"/>
      </dsp:txXfrm>
    </dsp:sp>
    <dsp:sp modelId="{89A9B4CF-6439-46B1-B6A9-1D6CD5034774}">
      <dsp:nvSpPr>
        <dsp:cNvPr id="0" name=""/>
        <dsp:cNvSpPr/>
      </dsp:nvSpPr>
      <dsp:spPr>
        <a:xfrm>
          <a:off x="2562141" y="439503"/>
          <a:ext cx="2372171" cy="2846605"/>
        </a:xfrm>
        <a:prstGeom prst="rect">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234318" tIns="0" rIns="234318" bIns="330200" numCol="1" spcCol="1270" anchor="t" anchorCtr="0">
          <a:noAutofit/>
        </a:bodyPr>
        <a:lstStyle/>
        <a:p>
          <a:pPr marL="0" lvl="0" indent="0" algn="l" defTabSz="1066800">
            <a:lnSpc>
              <a:spcPct val="90000"/>
            </a:lnSpc>
            <a:spcBef>
              <a:spcPct val="0"/>
            </a:spcBef>
            <a:spcAft>
              <a:spcPct val="35000"/>
            </a:spcAft>
            <a:buNone/>
          </a:pPr>
          <a:r>
            <a:rPr lang="en-IN" sz="2400" b="0" i="0" kern="1200" dirty="0"/>
            <a:t>Detection Approaches</a:t>
          </a:r>
          <a:endParaRPr lang="en-US" sz="2400" kern="1200" dirty="0"/>
        </a:p>
      </dsp:txBody>
      <dsp:txXfrm>
        <a:off x="2562141" y="1578145"/>
        <a:ext cx="2372171" cy="1707963"/>
      </dsp:txXfrm>
    </dsp:sp>
    <dsp:sp modelId="{379B8CE4-8135-4F2C-A5A0-E55EBE328E9A}">
      <dsp:nvSpPr>
        <dsp:cNvPr id="0" name=""/>
        <dsp:cNvSpPr/>
      </dsp:nvSpPr>
      <dsp:spPr>
        <a:xfrm>
          <a:off x="2562141" y="439503"/>
          <a:ext cx="2372171" cy="1138642"/>
        </a:xfrm>
        <a:prstGeom prst="rect">
          <a:avLst/>
        </a:prstGeom>
        <a:noFill/>
        <a:ln w="12700" cap="flat" cmpd="sng" algn="ctr">
          <a:noFill/>
          <a:prstDash val="solid"/>
        </a:ln>
        <a:effectLst/>
        <a:sp3d/>
      </dsp:spPr>
      <dsp:style>
        <a:lnRef idx="2">
          <a:scrgbClr r="0" g="0" b="0"/>
        </a:lnRef>
        <a:fillRef idx="1">
          <a:scrgbClr r="0" g="0" b="0"/>
        </a:fillRef>
        <a:effectRef idx="1">
          <a:scrgbClr r="0" g="0" b="0"/>
        </a:effectRef>
        <a:fontRef idx="minor">
          <a:schemeClr val="lt1"/>
        </a:fontRef>
      </dsp:style>
      <dsp:txBody>
        <a:bodyPr spcFirstLastPara="0" vert="horz" wrap="square" lIns="234318" tIns="165100" rIns="234318" bIns="165100" numCol="1" spcCol="1270" anchor="ctr" anchorCtr="0">
          <a:noAutofit/>
        </a:bodyPr>
        <a:lstStyle/>
        <a:p>
          <a:pPr marL="0" lvl="0" indent="0" algn="l" defTabSz="2622550">
            <a:lnSpc>
              <a:spcPct val="90000"/>
            </a:lnSpc>
            <a:spcBef>
              <a:spcPct val="0"/>
            </a:spcBef>
            <a:spcAft>
              <a:spcPct val="35000"/>
            </a:spcAft>
            <a:buNone/>
          </a:pPr>
          <a:r>
            <a:rPr lang="en-US" sz="5900" kern="1200"/>
            <a:t>02</a:t>
          </a:r>
          <a:endParaRPr lang="en-US" sz="5900" kern="1200" dirty="0"/>
        </a:p>
      </dsp:txBody>
      <dsp:txXfrm>
        <a:off x="2562141" y="439503"/>
        <a:ext cx="2372171" cy="1138642"/>
      </dsp:txXfrm>
    </dsp:sp>
    <dsp:sp modelId="{0802B4A8-7224-4B0A-95B7-D17AEB2B2AFF}">
      <dsp:nvSpPr>
        <dsp:cNvPr id="0" name=""/>
        <dsp:cNvSpPr/>
      </dsp:nvSpPr>
      <dsp:spPr>
        <a:xfrm>
          <a:off x="5124086" y="439503"/>
          <a:ext cx="2372171" cy="2846605"/>
        </a:xfrm>
        <a:prstGeom prst="rect">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234318" tIns="0" rIns="234318" bIns="330200" numCol="1" spcCol="1270" anchor="t" anchorCtr="0">
          <a:noAutofit/>
        </a:bodyPr>
        <a:lstStyle/>
        <a:p>
          <a:pPr marL="0" lvl="0" indent="0" algn="l" defTabSz="1155700">
            <a:lnSpc>
              <a:spcPct val="90000"/>
            </a:lnSpc>
            <a:spcBef>
              <a:spcPct val="0"/>
            </a:spcBef>
            <a:spcAft>
              <a:spcPct val="35000"/>
            </a:spcAft>
            <a:buNone/>
          </a:pPr>
          <a:endParaRPr lang="en-US" sz="2600" kern="1200" dirty="0"/>
        </a:p>
      </dsp:txBody>
      <dsp:txXfrm>
        <a:off x="5124086" y="1578145"/>
        <a:ext cx="2372171" cy="1707963"/>
      </dsp:txXfrm>
    </dsp:sp>
    <dsp:sp modelId="{68AC9669-DC11-473A-AA2E-579A44E78C37}">
      <dsp:nvSpPr>
        <dsp:cNvPr id="0" name=""/>
        <dsp:cNvSpPr/>
      </dsp:nvSpPr>
      <dsp:spPr>
        <a:xfrm>
          <a:off x="5124086" y="439503"/>
          <a:ext cx="2372171" cy="1138642"/>
        </a:xfrm>
        <a:prstGeom prst="rect">
          <a:avLst/>
        </a:prstGeom>
        <a:noFill/>
        <a:ln w="12700" cap="flat" cmpd="sng" algn="ctr">
          <a:noFill/>
          <a:prstDash val="solid"/>
        </a:ln>
        <a:effectLst/>
        <a:sp3d/>
      </dsp:spPr>
      <dsp:style>
        <a:lnRef idx="2">
          <a:scrgbClr r="0" g="0" b="0"/>
        </a:lnRef>
        <a:fillRef idx="1">
          <a:scrgbClr r="0" g="0" b="0"/>
        </a:fillRef>
        <a:effectRef idx="1">
          <a:scrgbClr r="0" g="0" b="0"/>
        </a:effectRef>
        <a:fontRef idx="minor">
          <a:schemeClr val="lt1"/>
        </a:fontRef>
      </dsp:style>
      <dsp:txBody>
        <a:bodyPr spcFirstLastPara="0" vert="horz" wrap="square" lIns="234318" tIns="165100" rIns="234318" bIns="165100" numCol="1" spcCol="1270" anchor="ctr" anchorCtr="0">
          <a:noAutofit/>
        </a:bodyPr>
        <a:lstStyle/>
        <a:p>
          <a:pPr marL="0" lvl="0" indent="0" algn="l" defTabSz="2622550">
            <a:lnSpc>
              <a:spcPct val="90000"/>
            </a:lnSpc>
            <a:spcBef>
              <a:spcPct val="0"/>
            </a:spcBef>
            <a:spcAft>
              <a:spcPct val="35000"/>
            </a:spcAft>
            <a:buNone/>
          </a:pPr>
          <a:r>
            <a:rPr lang="en-US" sz="5900" kern="1200"/>
            <a:t>03</a:t>
          </a:r>
          <a:endParaRPr lang="en-US" sz="5900" kern="1200" dirty="0"/>
        </a:p>
      </dsp:txBody>
      <dsp:txXfrm>
        <a:off x="5124086" y="439503"/>
        <a:ext cx="2372171" cy="1138642"/>
      </dsp:txXfrm>
    </dsp:sp>
    <dsp:sp modelId="{E8BC1477-DB3A-41E4-B00D-CF2D933D15BE}">
      <dsp:nvSpPr>
        <dsp:cNvPr id="0" name=""/>
        <dsp:cNvSpPr/>
      </dsp:nvSpPr>
      <dsp:spPr>
        <a:xfrm>
          <a:off x="7686032" y="439503"/>
          <a:ext cx="2372171" cy="2846605"/>
        </a:xfrm>
        <a:prstGeom prst="rect">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234318" tIns="0" rIns="234318" bIns="330200" numCol="1" spcCol="1270" anchor="t" anchorCtr="0">
          <a:noAutofit/>
        </a:bodyPr>
        <a:lstStyle/>
        <a:p>
          <a:pPr marL="0" lvl="0" indent="0" algn="l" defTabSz="1155700">
            <a:lnSpc>
              <a:spcPct val="90000"/>
            </a:lnSpc>
            <a:spcBef>
              <a:spcPct val="0"/>
            </a:spcBef>
            <a:spcAft>
              <a:spcPct val="35000"/>
            </a:spcAft>
            <a:buNone/>
          </a:pPr>
          <a:r>
            <a:rPr lang="en-IN" sz="2600" b="0" i="0" kern="1200"/>
            <a:t>Conclusion</a:t>
          </a:r>
        </a:p>
      </dsp:txBody>
      <dsp:txXfrm>
        <a:off x="7686032" y="1578145"/>
        <a:ext cx="2372171" cy="1707963"/>
      </dsp:txXfrm>
    </dsp:sp>
    <dsp:sp modelId="{460BF362-C244-4EF9-B61D-1AC955F4C5C3}">
      <dsp:nvSpPr>
        <dsp:cNvPr id="0" name=""/>
        <dsp:cNvSpPr/>
      </dsp:nvSpPr>
      <dsp:spPr>
        <a:xfrm>
          <a:off x="7686032" y="439503"/>
          <a:ext cx="2372171" cy="1138642"/>
        </a:xfrm>
        <a:prstGeom prst="rect">
          <a:avLst/>
        </a:prstGeom>
        <a:noFill/>
        <a:ln w="12700" cap="flat" cmpd="sng" algn="ctr">
          <a:noFill/>
          <a:prstDash val="solid"/>
        </a:ln>
        <a:effectLst/>
        <a:sp3d/>
      </dsp:spPr>
      <dsp:style>
        <a:lnRef idx="2">
          <a:scrgbClr r="0" g="0" b="0"/>
        </a:lnRef>
        <a:fillRef idx="1">
          <a:scrgbClr r="0" g="0" b="0"/>
        </a:fillRef>
        <a:effectRef idx="1">
          <a:scrgbClr r="0" g="0" b="0"/>
        </a:effectRef>
        <a:fontRef idx="minor">
          <a:schemeClr val="lt1"/>
        </a:fontRef>
      </dsp:style>
      <dsp:txBody>
        <a:bodyPr spcFirstLastPara="0" vert="horz" wrap="square" lIns="234318" tIns="165100" rIns="234318" bIns="165100" numCol="1" spcCol="1270" anchor="ctr" anchorCtr="0">
          <a:noAutofit/>
        </a:bodyPr>
        <a:lstStyle/>
        <a:p>
          <a:pPr marL="0" lvl="0" indent="0" algn="l" defTabSz="2622550">
            <a:lnSpc>
              <a:spcPct val="90000"/>
            </a:lnSpc>
            <a:spcBef>
              <a:spcPct val="0"/>
            </a:spcBef>
            <a:spcAft>
              <a:spcPct val="35000"/>
            </a:spcAft>
            <a:buNone/>
          </a:pPr>
          <a:r>
            <a:rPr lang="en-IN" sz="5900" kern="1200"/>
            <a:t>04</a:t>
          </a:r>
        </a:p>
      </dsp:txBody>
      <dsp:txXfrm>
        <a:off x="7686032" y="439503"/>
        <a:ext cx="2372171" cy="1138642"/>
      </dsp:txXfrm>
    </dsp:sp>
  </dsp:spTree>
</dsp:drawing>
</file>

<file path=ppt/diagrams/layout1.xml><?xml version="1.0" encoding="utf-8"?>
<dgm:layoutDef xmlns:dgm="http://schemas.openxmlformats.org/drawingml/2006/diagram" xmlns:a="http://schemas.openxmlformats.org/drawingml/2006/main" uniqueId="urn:microsoft.com/office/officeart/2016/7/layout/LinearBlockProcessNumbered#1">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97D4F0E7-A380-4E8A-A5E6-02A2C57BE889}">
          <dgm:prSet phldrT="1"/>
          <dgm:t>
            <a:bodyPr/>
            <a:lstStyle/>
            <a:p>
              <a:r>
                <a:t>01</a:t>
              </a:r>
            </a:p>
          </dgm:t>
        </dgm:pt>
        <dgm:pt modelId="201" type="sibTrans" cxnId="{5712BDC4-329B-45B2-9194-A148ABB6560A}">
          <dgm:prSet phldrT="2"/>
          <dgm:t>
            <a:bodyPr/>
            <a:lstStyle/>
            <a:p>
              <a:r>
                <a:t>02</a:t>
              </a:r>
            </a:p>
          </dgm:t>
        </dgm:pt>
        <dgm:pt modelId="301" type="sibTrans" cxnId="{8984278A-33F0-4B08-ABC0-F48449CE37F3}">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txBody>
          <a:bodyPr/>
          <a:lstStyle/>
          <a:p>
            <a:endParaRPr lang="en-IN"/>
          </a:p>
        </p:txBody>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txBody>
          <a:bodyPr/>
          <a:lstStyle/>
          <a:p>
            <a:endParaRPr lang="en-IN"/>
          </a:p>
        </p:txBody>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grpSp>
        <p:nvGrpSpPr>
          <p:cNvPr id="7" name="Group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629103" y="2244830"/>
            <a:ext cx="8933796" cy="2437232"/>
          </a:xfrm>
        </p:spPr>
        <p:txBody>
          <a:bodyPr tIns="45720" bIns="45720" anchor="ctr">
            <a:normAutofit/>
          </a:bodyPr>
          <a:lstStyle>
            <a:lvl1pPr algn="ctr">
              <a:lnSpc>
                <a:spcPct val="83000"/>
              </a:lnSpc>
              <a:defRPr lang="en-US" sz="68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mn-lt"/>
              </a:defRPr>
            </a:lvl1pPr>
          </a:lstStyle>
          <a:p>
            <a:fld id="{EA0C0817-A112-4847-8014-A94B7D2A4EA3}" type="datetime1">
              <a:rPr lang="en-US" smtClean="0"/>
              <a:t>10/24/2025</a:t>
            </a:fld>
            <a:endParaRPr lang="en-US" dirty="0"/>
          </a:p>
        </p:txBody>
      </p:sp>
      <p:sp>
        <p:nvSpPr>
          <p:cNvPr id="21" name="Footer Placeholder 20"/>
          <p:cNvSpPr>
            <a:spLocks noGrp="1"/>
          </p:cNvSpPr>
          <p:nvPr>
            <p:ph type="ftr" sz="quarter" idx="11"/>
          </p:nvPr>
        </p:nvSpPr>
        <p:spPr>
          <a:xfrm>
            <a:off x="1629100" y="5177408"/>
            <a:ext cx="5730295" cy="228600"/>
          </a:xfrm>
        </p:spPr>
        <p:txBody>
          <a:bodyPr/>
          <a:lstStyle>
            <a:lvl1pPr algn="l">
              <a:defRPr>
                <a:solidFill>
                  <a:schemeClr val="tx1">
                    <a:lumMod val="85000"/>
                    <a:lumOff val="15000"/>
                  </a:schemeClr>
                </a:solidFill>
              </a:defRPr>
            </a:lvl1pPr>
          </a:lstStyle>
          <a:p>
            <a:endParaRPr lang="en-US" dirty="0"/>
          </a:p>
        </p:txBody>
      </p:sp>
      <p:sp>
        <p:nvSpPr>
          <p:cNvPr id="22" name="Slide Number Placeholder 21"/>
          <p:cNvSpPr>
            <a:spLocks noGrp="1"/>
          </p:cNvSpPr>
          <p:nvPr>
            <p:ph type="sldNum" sz="quarter" idx="12"/>
          </p:nvPr>
        </p:nvSpPr>
        <p:spPr>
          <a:xfrm>
            <a:off x="8606920" y="5177408"/>
            <a:ext cx="1955980"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39577501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32B432-ACDA-4023-A761-2BAB76577B62}" type="datetime1">
              <a:rPr lang="en-US" smtClean="0"/>
              <a:t>10/24/2025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870318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4A1889-E37C-4EC3-9E41-9DAD221CF389}"/>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23" name="Rectangle 22"/>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txBody>
          <a:bodyPr/>
          <a:lstStyle/>
          <a:p>
            <a:endParaRPr lang="en-IN"/>
          </a:p>
        </p:txBody>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txBody>
          <a:bodyPr/>
          <a:lstStyle/>
          <a:p>
            <a:endParaRPr lang="en-IN"/>
          </a:p>
        </p:txBody>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1629156" y="2275165"/>
            <a:ext cx="8933688" cy="2406895"/>
          </a:xfrm>
        </p:spPr>
        <p:txBody>
          <a:bodyPr anchor="ctr">
            <a:normAutofit/>
          </a:bodyPr>
          <a:lstStyle>
            <a:lvl1pPr algn="ctr">
              <a:lnSpc>
                <a:spcPct val="83000"/>
              </a:lnSpc>
              <a:defRPr lang="en-US" sz="68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grpSp>
        <p:nvGrpSpPr>
          <p:cNvPr id="16" name="Group 15">
            <a:extLst>
              <a:ext uri="{FF2B5EF4-FFF2-40B4-BE49-F238E27FC236}">
                <a16:creationId xmlns:a16="http://schemas.microsoft.com/office/drawing/2014/main" id="{1683EB04-C23E-490C-A1A6-030CF79D23C8}"/>
              </a:ext>
            </a:extLst>
          </p:cNvPr>
          <p:cNvGrpSpPr/>
          <p:nvPr/>
        </p:nvGrpSpPr>
        <p:grpSpPr>
          <a:xfrm>
            <a:off x="5250180" y="1267730"/>
            <a:ext cx="1691640" cy="615934"/>
            <a:chOff x="5250180" y="1267730"/>
            <a:chExt cx="1691640" cy="615934"/>
          </a:xfrm>
        </p:grpSpPr>
        <p:cxnSp>
          <p:nvCxnSpPr>
            <p:cNvPr id="17" name="Straight Connector 16">
              <a:extLst>
                <a:ext uri="{FF2B5EF4-FFF2-40B4-BE49-F238E27FC236}">
                  <a16:creationId xmlns:a16="http://schemas.microsoft.com/office/drawing/2014/main" id="{F8A84C03-E1CA-4A4E-81D6-9BB0C335B7A0}"/>
                </a:ext>
              </a:extLst>
            </p:cNvPr>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A26FB5A-D5D1-4DAB-AC43-7F51A7F2D197}"/>
                </a:ext>
              </a:extLst>
            </p:cNvPr>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9303F14-E560-4C02-94F4-B4695FE26813}"/>
                </a:ext>
              </a:extLst>
            </p:cNvPr>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3" name="Text Placeholder 2"/>
          <p:cNvSpPr>
            <a:spLocks noGrp="1"/>
          </p:cNvSpPr>
          <p:nvPr>
            <p:ph type="body" idx="1"/>
          </p:nvPr>
        </p:nvSpPr>
        <p:spPr>
          <a:xfrm>
            <a:off x="1629156" y="4682062"/>
            <a:ext cx="8939784" cy="457200"/>
          </a:xfrm>
        </p:spPr>
        <p:txBody>
          <a:bodyPr anchor="t">
            <a:normAutofit/>
          </a:bodyPr>
          <a:lstStyle>
            <a:lvl1pPr marL="0" indent="0" algn="ctr">
              <a:buNone/>
              <a:tabLst>
                <a:tab pos="2633663" algn="l"/>
              </a:tabLst>
              <a:defRPr sz="1800">
                <a:solidFill>
                  <a:schemeClr val="tx1">
                    <a:lumMod val="95000"/>
                    <a:lumOff val="5000"/>
                  </a:schemeClr>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18760" y="1344502"/>
            <a:ext cx="1554480" cy="498781"/>
          </a:xfrm>
        </p:spPr>
        <p:txBody>
          <a:bodyPr/>
          <a:lstStyle>
            <a:lvl1pPr algn="ctr">
              <a:defRPr lang="en-US" sz="1300" kern="1200" spc="0" baseline="0">
                <a:solidFill>
                  <a:srgbClr val="FFFFFF"/>
                </a:solidFill>
                <a:latin typeface="+mn-lt"/>
                <a:ea typeface="+mn-ea"/>
                <a:cs typeface="+mn-cs"/>
              </a:defRPr>
            </a:lvl1pPr>
          </a:lstStyle>
          <a:p>
            <a:fld id="{D9C646AA-F36E-4540-911D-FFFC0A0EF24A}" type="datetime1">
              <a:rPr lang="en-US" smtClean="0"/>
              <a:t>10/24/2025</a:t>
            </a:fld>
            <a:endParaRPr lang="en-US" dirty="0"/>
          </a:p>
        </p:txBody>
      </p:sp>
      <p:sp>
        <p:nvSpPr>
          <p:cNvPr id="5" name="Footer Placeholder 4"/>
          <p:cNvSpPr>
            <a:spLocks noGrp="1"/>
          </p:cNvSpPr>
          <p:nvPr>
            <p:ph type="ftr" sz="quarter" idx="11"/>
          </p:nvPr>
        </p:nvSpPr>
        <p:spPr>
          <a:xfrm>
            <a:off x="1629157" y="5177408"/>
            <a:ext cx="5660134" cy="228600"/>
          </a:xfrm>
        </p:spPr>
        <p:txBody>
          <a:bodyPr/>
          <a:lstStyle>
            <a:lvl1pPr algn="l">
              <a:defRPr>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12"/>
          </p:nvPr>
        </p:nvSpPr>
        <p:spPr>
          <a:xfrm>
            <a:off x="8604504" y="5177408"/>
            <a:ext cx="1958339"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34990581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186D26-FA5F-4637-B602-B7C2DC34CFD4}" type="datetime1">
              <a:rPr lang="en-US" smtClean="0"/>
              <a:t>10/24/2025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32909503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663440"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92472"/>
            <a:ext cx="4663440"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58712" y="2074334"/>
            <a:ext cx="4663440"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58712" y="2792471"/>
            <a:ext cx="4663440"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A7F15D8-96D1-4781-BC50-CA8A088B2FE4}" type="datetime1">
              <a:rPr lang="en-US" smtClean="0"/>
              <a:t>10/24/2025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5451473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A96C99-B8F8-4528-BD05-0E16E943DC09}" type="datetime1">
              <a:rPr lang="en-US" smtClean="0"/>
              <a:t>10/24/2025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33817009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t>10/24/2025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19691610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3" name="Rectangle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8458200" y="607392"/>
            <a:ext cx="3161963" cy="1645920"/>
          </a:xfrm>
        </p:spPr>
        <p:txBody>
          <a:bodyPr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fld id="{7E8D12A6-918A-48BD-8CB9-CA713993B0EA}" type="datetime1">
              <a:rPr lang="en-US" smtClean="0"/>
              <a:t>10/24/2025</a:t>
            </a:fld>
            <a:endParaRPr lang="en-US" dirty="0"/>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endParaRPr lang="en-US" dirty="0"/>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20075313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 name="Picture Placeholder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p:cNvSpPr>
            <a:spLocks noGrp="1"/>
          </p:cNvSpPr>
          <p:nvPr>
            <p:ph type="dt" sz="half" idx="10"/>
          </p:nvPr>
        </p:nvSpPr>
        <p:spPr>
          <a:xfrm>
            <a:off x="5662337" y="6035040"/>
            <a:ext cx="2071963" cy="365760"/>
          </a:xfrm>
        </p:spPr>
        <p:txBody>
          <a:bodyPr/>
          <a:lstStyle>
            <a:lvl1pPr>
              <a:defRPr b="1">
                <a:solidFill>
                  <a:srgbClr val="FFFFFF"/>
                </a:solidFill>
                <a:effectLst>
                  <a:outerShdw blurRad="19050" dist="6350" dir="2700000" algn="tl" rotWithShape="0">
                    <a:prstClr val="black">
                      <a:alpha val="40000"/>
                    </a:prstClr>
                  </a:outerShdw>
                </a:effectLst>
              </a:defRPr>
            </a:lvl1pPr>
          </a:lstStyle>
          <a:p>
            <a:fld id="{E778CE86-875F-4587-BCF6-FA054AFC0D53}" type="datetime1">
              <a:rPr lang="en-US" smtClean="0"/>
              <a:pPr/>
              <a:t>10/24/2025</a:t>
            </a:fld>
            <a:endParaRPr lang="en-US" dirty="0"/>
          </a:p>
        </p:txBody>
      </p:sp>
      <p:sp>
        <p:nvSpPr>
          <p:cNvPr id="6" name="Footer Placeholder 5"/>
          <p:cNvSpPr>
            <a:spLocks noGrp="1"/>
          </p:cNvSpPr>
          <p:nvPr>
            <p:ph type="ftr" sz="quarter" idx="11"/>
          </p:nvPr>
        </p:nvSpPr>
        <p:spPr>
          <a:xfrm>
            <a:off x="612648" y="6035040"/>
            <a:ext cx="4588002" cy="365760"/>
          </a:xfrm>
        </p:spPr>
        <p:txBody>
          <a:bodyPr/>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pPr algn="l"/>
            <a:endParaRPr lang="en-US" dirty="0"/>
          </a:p>
        </p:txBody>
      </p:sp>
      <p:sp>
        <p:nvSpPr>
          <p:cNvPr id="7" name="Slide Number Placeholder 6"/>
          <p:cNvSpPr>
            <a:spLocks noGrp="1"/>
          </p:cNvSpPr>
          <p:nvPr>
            <p:ph type="sldNum" sz="quarter" idx="12"/>
          </p:nvPr>
        </p:nvSpPr>
        <p:spPr>
          <a:xfrm>
            <a:off x="10396728" y="6035040"/>
            <a:ext cx="1225296" cy="365760"/>
          </a:xfrm>
        </p:spPr>
        <p:txBody>
          <a:bodyPr/>
          <a:lstStyle/>
          <a:p>
            <a:fld id="{34B7E4EF-A1BD-40F4-AB7B-04F084DD991D}" type="slidenum">
              <a:rPr lang="en-US" smtClean="0"/>
              <a:t>‹#›</a:t>
            </a:fld>
            <a:endParaRPr lang="en-US" dirty="0"/>
          </a:p>
        </p:txBody>
      </p:sp>
      <p:sp>
        <p:nvSpPr>
          <p:cNvPr id="12" name="Rectangle 11">
            <a:extLst>
              <a:ext uri="{FF2B5EF4-FFF2-40B4-BE49-F238E27FC236}">
                <a16:creationId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8477250" y="603504"/>
            <a:ext cx="3144774" cy="1645920"/>
          </a:xfrm>
        </p:spPr>
        <p:txBody>
          <a:bodyPr anchor="b">
            <a:noAutofit/>
          </a:bodyPr>
          <a:lstStyle>
            <a:lvl1pPr algn="l">
              <a:lnSpc>
                <a:spcPct val="100000"/>
              </a:lnSpc>
              <a:defRPr sz="3200" b="0">
                <a:solidFill>
                  <a:schemeClr val="tx1"/>
                </a:solidFill>
                <a:latin typeface="+mj-lt"/>
              </a:defRPr>
            </a:lvl1pPr>
          </a:lstStyle>
          <a:p>
            <a:r>
              <a:rPr lang="en-US"/>
              <a:t>Click to edit Master title style</a:t>
            </a:r>
            <a:endParaRPr lang="en-US" dirty="0"/>
          </a:p>
        </p:txBody>
      </p:sp>
      <p:sp>
        <p:nvSpPr>
          <p:cNvPr id="4" name="Text Placeholder 3"/>
          <p:cNvSpPr>
            <a:spLocks noGrp="1"/>
          </p:cNvSpPr>
          <p:nvPr>
            <p:ph type="body" sz="half" idx="2"/>
          </p:nvPr>
        </p:nvSpPr>
        <p:spPr>
          <a:xfrm>
            <a:off x="8477250" y="2386584"/>
            <a:ext cx="3144774" cy="3511296"/>
          </a:xfrm>
        </p:spPr>
        <p:txBody>
          <a:bodyPr>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9880866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txBody>
          <a:bodyPr/>
          <a:lstStyle/>
          <a:p>
            <a:endParaRPr lang="en-IN"/>
          </a:p>
        </p:txBody>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txBody>
          <a:bodyPr/>
          <a:lstStyle/>
          <a:p>
            <a:endParaRPr lang="en-IN"/>
          </a:p>
        </p:txBody>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F6FA2B21-3FCD-4721-B95C-427943F61125}" type="datetime1">
              <a:rPr lang="en-US" smtClean="0"/>
              <a:t>10/24/2025</a:t>
            </a:fld>
            <a:endParaRPr lang="en-US" dirty="0"/>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800">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21164094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lang="en-US" sz="3600" i="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20000"/>
        </a:lnSpc>
        <a:spcBef>
          <a:spcPts val="900"/>
        </a:spcBef>
        <a:spcAft>
          <a:spcPts val="0"/>
        </a:spcAft>
        <a:buClr>
          <a:schemeClr val="tx1">
            <a:lumMod val="85000"/>
            <a:lumOff val="15000"/>
          </a:schemeClr>
        </a:buClr>
        <a:buFont typeface="Garamond" pitchFamily="18" charset="0"/>
        <a:buChar char="◦"/>
        <a:defRPr sz="14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1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1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1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slideLayout" Target="../slideLayouts/slideLayout2.xml"/><Relationship Id="rId1" Type="http://schemas.openxmlformats.org/officeDocument/2006/relationships/themeOverride" Target="../theme/themeOverride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2BA1780-A246-4C7F-9267-727EF2F4E785}"/>
              </a:ext>
              <a:ext uri="{C183D7F6-B498-43B3-948B-1728B52AA6E4}">
                <adec:decorative xmlns:adec="http://schemas.microsoft.com/office/drawing/2017/decorative" val="1"/>
              </a:ext>
            </a:extLst>
          </p:cNvPr>
          <p:cNvPicPr>
            <a:picLocks noChangeAspect="1"/>
          </p:cNvPicPr>
          <p:nvPr/>
        </p:nvPicPr>
        <p:blipFill rotWithShape="1">
          <a:blip r:embed="rId3"/>
          <a:srcRect t="3846"/>
          <a:stretch/>
        </p:blipFill>
        <p:spPr>
          <a:xfrm>
            <a:off x="21" y="0"/>
            <a:ext cx="12191979" cy="6923271"/>
          </a:xfrm>
          <a:prstGeom prst="rect">
            <a:avLst/>
          </a:prstGeom>
        </p:spPr>
      </p:pic>
      <p:sp>
        <p:nvSpPr>
          <p:cNvPr id="19" name="Rectangle 18">
            <a:extLst>
              <a:ext uri="{FF2B5EF4-FFF2-40B4-BE49-F238E27FC236}">
                <a16:creationId xmlns:a16="http://schemas.microsoft.com/office/drawing/2014/main" id="{2644B391-9BFE-445C-A9EC-F544BB85F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7329" y="1808532"/>
            <a:ext cx="5452527" cy="3240936"/>
          </a:xfrm>
          <a:prstGeom prst="rect">
            <a:avLst/>
          </a:prstGeom>
          <a:solidFill>
            <a:schemeClr val="bg1">
              <a:lumMod val="75000"/>
              <a:lumOff val="25000"/>
            </a:schemeClr>
          </a:solidFill>
          <a:ln w="6350" cap="sq" cmpd="sng" algn="ctr">
            <a:noFill/>
            <a:prstDash val="solid"/>
            <a:miter lim="800000"/>
          </a:ln>
          <a:effectLst/>
        </p:spPr>
        <p:txBody>
          <a:bodyPr/>
          <a:lstStyle/>
          <a:p>
            <a:endParaRPr lang="en-IN"/>
          </a:p>
        </p:txBody>
      </p:sp>
      <p:sp>
        <p:nvSpPr>
          <p:cNvPr id="21" name="Rectangle 20">
            <a:extLst>
              <a:ext uri="{FF2B5EF4-FFF2-40B4-BE49-F238E27FC236}">
                <a16:creationId xmlns:a16="http://schemas.microsoft.com/office/drawing/2014/main" id="{80F26E69-87D9-4655-AE7B-280A87AA3C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3272" y="1975104"/>
            <a:ext cx="5120640" cy="2907792"/>
          </a:xfrm>
          <a:prstGeom prst="rect">
            <a:avLst/>
          </a:prstGeom>
          <a:noFill/>
          <a:ln w="6350" cap="sq" cmpd="sng" algn="ctr">
            <a:solidFill>
              <a:schemeClr val="tx1"/>
            </a:solidFill>
            <a:prstDash val="solid"/>
            <a:miter lim="800000"/>
          </a:ln>
          <a:effectLst>
            <a:softEdge rad="0"/>
          </a:effectLst>
        </p:spPr>
        <p:txBody>
          <a:bodyPr/>
          <a:lstStyle/>
          <a:p>
            <a:endParaRPr lang="en-IN"/>
          </a:p>
        </p:txBody>
      </p:sp>
      <p:sp>
        <p:nvSpPr>
          <p:cNvPr id="2" name="Title 1">
            <a:extLst>
              <a:ext uri="{FF2B5EF4-FFF2-40B4-BE49-F238E27FC236}">
                <a16:creationId xmlns:a16="http://schemas.microsoft.com/office/drawing/2014/main" id="{C0D7398C-75E5-4CB0-BA4F-D7D5CF2495D4}"/>
              </a:ext>
            </a:extLst>
          </p:cNvPr>
          <p:cNvSpPr>
            <a:spLocks noGrp="1"/>
          </p:cNvSpPr>
          <p:nvPr>
            <p:ph type="ctrTitle"/>
          </p:nvPr>
        </p:nvSpPr>
        <p:spPr>
          <a:xfrm>
            <a:off x="705783" y="2291954"/>
            <a:ext cx="5911326" cy="2516019"/>
          </a:xfrm>
        </p:spPr>
        <p:txBody>
          <a:bodyPr>
            <a:normAutofit/>
          </a:bodyPr>
          <a:lstStyle/>
          <a:p>
            <a:r>
              <a:rPr lang="fr-FR" sz="4000" b="1" dirty="0">
                <a:solidFill>
                  <a:schemeClr val="tx1"/>
                </a:solidFill>
                <a:ea typeface="Space Grotesk"/>
              </a:rPr>
              <a:t>Credit Card Fraud Detection</a:t>
            </a:r>
            <a:endParaRPr lang="en-US" sz="4000" dirty="0">
              <a:solidFill>
                <a:schemeClr val="tx1"/>
              </a:solidFill>
            </a:endParaRPr>
          </a:p>
        </p:txBody>
      </p:sp>
    </p:spTree>
    <p:extLst>
      <p:ext uri="{BB962C8B-B14F-4D97-AF65-F5344CB8AC3E}">
        <p14:creationId xmlns:p14="http://schemas.microsoft.com/office/powerpoint/2010/main" val="2152082915"/>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B8085-1FFF-44DD-A144-D794D923CF00}"/>
              </a:ext>
            </a:extLst>
          </p:cNvPr>
          <p:cNvSpPr>
            <a:spLocks noGrp="1"/>
          </p:cNvSpPr>
          <p:nvPr>
            <p:ph type="title"/>
          </p:nvPr>
        </p:nvSpPr>
        <p:spPr>
          <a:xfrm>
            <a:off x="765858" y="194594"/>
            <a:ext cx="10058400" cy="1371600"/>
          </a:xfrm>
        </p:spPr>
        <p:txBody>
          <a:bodyPr>
            <a:normAutofit/>
          </a:bodyPr>
          <a:lstStyle/>
          <a:p>
            <a:pPr algn="ctr"/>
            <a:r>
              <a:rPr lang="en-US" b="1" dirty="0"/>
              <a:t>Table of Contents</a:t>
            </a:r>
          </a:p>
        </p:txBody>
      </p:sp>
      <p:graphicFrame>
        <p:nvGraphicFramePr>
          <p:cNvPr id="5" name="Content Placeholder 2" descr="SmartArt Process Diagram">
            <a:extLst>
              <a:ext uri="{FF2B5EF4-FFF2-40B4-BE49-F238E27FC236}">
                <a16:creationId xmlns:a16="http://schemas.microsoft.com/office/drawing/2014/main" id="{60233515-42BF-4401-AB7F-458C06159D34}"/>
              </a:ext>
            </a:extLst>
          </p:cNvPr>
          <p:cNvGraphicFramePr>
            <a:graphicFrameLocks noGrp="1"/>
          </p:cNvGraphicFramePr>
          <p:nvPr>
            <p:ph idx="1"/>
            <p:extLst>
              <p:ext uri="{D42A27DB-BD31-4B8C-83A1-F6EECF244321}">
                <p14:modId xmlns:p14="http://schemas.microsoft.com/office/powerpoint/2010/main" val="447200260"/>
              </p:ext>
            </p:extLst>
          </p:nvPr>
        </p:nvGraphicFramePr>
        <p:xfrm>
          <a:off x="499640" y="872431"/>
          <a:ext cx="10058400" cy="37256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D837A3DB-6FCC-7F62-7908-AB37996094E5}"/>
              </a:ext>
            </a:extLst>
          </p:cNvPr>
          <p:cNvSpPr txBox="1"/>
          <p:nvPr/>
        </p:nvSpPr>
        <p:spPr>
          <a:xfrm>
            <a:off x="5795058" y="2359060"/>
            <a:ext cx="1858297" cy="1846659"/>
          </a:xfrm>
          <a:prstGeom prst="rect">
            <a:avLst/>
          </a:prstGeom>
          <a:noFill/>
        </p:spPr>
        <p:txBody>
          <a:bodyPr wrap="square" rtlCol="0">
            <a:spAutoFit/>
          </a:bodyPr>
          <a:lstStyle/>
          <a:p>
            <a:r>
              <a:rPr lang="en-IN" sz="2400" dirty="0">
                <a:solidFill>
                  <a:schemeClr val="bg1"/>
                </a:solidFill>
              </a:rPr>
              <a:t>Common Machine Learning Algorithms</a:t>
            </a:r>
          </a:p>
          <a:p>
            <a:endParaRPr lang="en-IN" dirty="0"/>
          </a:p>
        </p:txBody>
      </p:sp>
      <p:sp>
        <p:nvSpPr>
          <p:cNvPr id="4" name="TextBox 3">
            <a:extLst>
              <a:ext uri="{FF2B5EF4-FFF2-40B4-BE49-F238E27FC236}">
                <a16:creationId xmlns:a16="http://schemas.microsoft.com/office/drawing/2014/main" id="{DD81081D-8A71-D4DC-90EE-53369981ACBB}"/>
              </a:ext>
            </a:extLst>
          </p:cNvPr>
          <p:cNvSpPr txBox="1"/>
          <p:nvPr/>
        </p:nvSpPr>
        <p:spPr>
          <a:xfrm>
            <a:off x="590309" y="4375230"/>
            <a:ext cx="7063046" cy="1938992"/>
          </a:xfrm>
          <a:prstGeom prst="rect">
            <a:avLst/>
          </a:prstGeom>
          <a:noFill/>
        </p:spPr>
        <p:txBody>
          <a:bodyPr wrap="square" rtlCol="0">
            <a:spAutoFit/>
          </a:bodyPr>
          <a:lstStyle/>
          <a:p>
            <a:r>
              <a:rPr lang="en-IN" sz="2400" b="1" dirty="0"/>
              <a:t>Team Members:</a:t>
            </a:r>
          </a:p>
          <a:p>
            <a:r>
              <a:rPr lang="en-IN" sz="2400" dirty="0"/>
              <a:t>1)Nakka Saicharan</a:t>
            </a:r>
          </a:p>
          <a:p>
            <a:r>
              <a:rPr lang="en-IN" sz="2400" dirty="0"/>
              <a:t>2)Alladi Lalith Kumar</a:t>
            </a:r>
          </a:p>
          <a:p>
            <a:r>
              <a:rPr lang="en-IN" sz="2400" dirty="0"/>
              <a:t>3)Sunkari Sai krish Goud</a:t>
            </a:r>
          </a:p>
          <a:p>
            <a:r>
              <a:rPr lang="en-IN" sz="2400" dirty="0"/>
              <a:t>4)Bussa Sathwik</a:t>
            </a:r>
          </a:p>
        </p:txBody>
      </p:sp>
    </p:spTree>
    <p:extLst>
      <p:ext uri="{BB962C8B-B14F-4D97-AF65-F5344CB8AC3E}">
        <p14:creationId xmlns:p14="http://schemas.microsoft.com/office/powerpoint/2010/main" val="38337735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F5ACA-4576-A385-B04F-48A59E459DF9}"/>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85C0E8CF-522D-D9D2-D79B-4CB60EB68375}"/>
              </a:ext>
            </a:extLst>
          </p:cNvPr>
          <p:cNvSpPr>
            <a:spLocks noGrp="1"/>
          </p:cNvSpPr>
          <p:nvPr>
            <p:ph idx="1"/>
          </p:nvPr>
        </p:nvSpPr>
        <p:spPr/>
        <p:txBody>
          <a:bodyPr>
            <a:normAutofit fontScale="92500" lnSpcReduction="10000"/>
          </a:bodyPr>
          <a:lstStyle/>
          <a:p>
            <a:r>
              <a:rPr lang="en-US" sz="2400" dirty="0"/>
              <a:t>Credit card fraud involves unauthorized use of someone's credit card or card information for purchases.</a:t>
            </a:r>
          </a:p>
          <a:p>
            <a:r>
              <a:rPr lang="en-US" sz="2400" dirty="0"/>
              <a:t>The increase in electronic transactions and e-commerce has accelerated the occurrence of credit card fraud.</a:t>
            </a:r>
          </a:p>
          <a:p>
            <a:r>
              <a:rPr lang="en-US" sz="2400" b="1" dirty="0"/>
              <a:t>Types of Credit Card Fraud:</a:t>
            </a:r>
          </a:p>
          <a:p>
            <a:r>
              <a:rPr lang="en-US" sz="2400" dirty="0"/>
              <a:t>Card-present fraud (physical cards)</a:t>
            </a:r>
          </a:p>
          <a:p>
            <a:r>
              <a:rPr lang="en-US" sz="2400" dirty="0"/>
              <a:t>Card-not-present fraud (online/phone)</a:t>
            </a:r>
          </a:p>
          <a:p>
            <a:r>
              <a:rPr lang="en-US" sz="2400" dirty="0"/>
              <a:t>Lost/stolen cards, counterfeit cards, phishing</a:t>
            </a:r>
          </a:p>
          <a:p>
            <a:endParaRPr lang="en-IN" dirty="0"/>
          </a:p>
        </p:txBody>
      </p:sp>
    </p:spTree>
    <p:extLst>
      <p:ext uri="{BB962C8B-B14F-4D97-AF65-F5344CB8AC3E}">
        <p14:creationId xmlns:p14="http://schemas.microsoft.com/office/powerpoint/2010/main" val="19179657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CAFAC5A-5A9C-A67E-63FF-2F1EB45F65A0}"/>
              </a:ext>
            </a:extLst>
          </p:cNvPr>
          <p:cNvSpPr>
            <a:spLocks noGrp="1"/>
          </p:cNvSpPr>
          <p:nvPr>
            <p:ph idx="1"/>
          </p:nvPr>
        </p:nvSpPr>
        <p:spPr>
          <a:xfrm>
            <a:off x="695581" y="619433"/>
            <a:ext cx="10800838" cy="4045616"/>
          </a:xfrm>
        </p:spPr>
        <p:txBody>
          <a:bodyPr>
            <a:normAutofit fontScale="25000" lnSpcReduction="20000"/>
          </a:bodyPr>
          <a:lstStyle/>
          <a:p>
            <a:pPr marL="0" indent="0">
              <a:buNone/>
            </a:pPr>
            <a:r>
              <a:rPr lang="en-US" sz="12800" b="1" dirty="0">
                <a:latin typeface="Times New Roman" panose="02020603050405020304" pitchFamily="18" charset="0"/>
                <a:cs typeface="Times New Roman" panose="02020603050405020304" pitchFamily="18" charset="0"/>
              </a:rPr>
              <a:t>Challenges in Fraud Detection</a:t>
            </a:r>
            <a:r>
              <a:rPr lang="en-US" sz="12800" b="1" dirty="0">
                <a:latin typeface="Bahnschrift" panose="020B0502040204020203" pitchFamily="34" charset="0"/>
              </a:rPr>
              <a:t>:</a:t>
            </a:r>
          </a:p>
          <a:p>
            <a:r>
              <a:rPr lang="en-US" sz="9600" dirty="0"/>
              <a:t>Massive volume of daily transactions</a:t>
            </a:r>
          </a:p>
          <a:p>
            <a:r>
              <a:rPr lang="en-US" sz="9600" dirty="0"/>
              <a:t>Extremely imbalanced datasets (fraud cases are rare: e.g., 492 out of 284,807 transactions in a common dataset).</a:t>
            </a:r>
          </a:p>
          <a:p>
            <a:r>
              <a:rPr lang="en-US" sz="9600" dirty="0"/>
              <a:t>Need for real-time detection</a:t>
            </a:r>
          </a:p>
          <a:p>
            <a:r>
              <a:rPr lang="en-US" sz="9600" dirty="0"/>
              <a:t>Minimizing false positives to avoid inconvenience for legitimate users.</a:t>
            </a:r>
          </a:p>
          <a:p>
            <a:pPr marL="0" indent="0">
              <a:buNone/>
            </a:pPr>
            <a:r>
              <a:rPr lang="en-US" sz="14400" b="1" dirty="0">
                <a:latin typeface="Times New Roman" panose="02020603050405020304" pitchFamily="18" charset="0"/>
                <a:cs typeface="Times New Roman" panose="02020603050405020304" pitchFamily="18" charset="0"/>
              </a:rPr>
              <a:t>Detection Approaches:</a:t>
            </a:r>
          </a:p>
          <a:p>
            <a:r>
              <a:rPr lang="en-US" sz="9600" dirty="0"/>
              <a:t>Rule-based systems: Manual if-then rules (e.g., purchase amount/exceeding limits)</a:t>
            </a:r>
          </a:p>
          <a:p>
            <a:r>
              <a:rPr lang="en-US" sz="9600" dirty="0"/>
              <a:t>Machine Learning (ML) methods: Automatically finds patterns in transactions</a:t>
            </a:r>
          </a:p>
          <a:p>
            <a:pPr lvl="1"/>
            <a:r>
              <a:rPr lang="en-US" sz="9600" dirty="0"/>
              <a:t>Supervised algorithms use labeled data (fraud/not fraud)</a:t>
            </a:r>
          </a:p>
          <a:p>
            <a:pPr lvl="1"/>
            <a:r>
              <a:rPr lang="en-US" sz="9600" dirty="0"/>
              <a:t>Unsupervised methods detect anomalies without labeled data</a:t>
            </a:r>
          </a:p>
          <a:p>
            <a:endParaRPr lang="en-IN" dirty="0"/>
          </a:p>
        </p:txBody>
      </p:sp>
    </p:spTree>
    <p:extLst>
      <p:ext uri="{BB962C8B-B14F-4D97-AF65-F5344CB8AC3E}">
        <p14:creationId xmlns:p14="http://schemas.microsoft.com/office/powerpoint/2010/main" val="22803791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89B4F-3E59-C008-25EF-DDC7A89CC1C8}"/>
              </a:ext>
            </a:extLst>
          </p:cNvPr>
          <p:cNvSpPr>
            <a:spLocks noGrp="1"/>
          </p:cNvSpPr>
          <p:nvPr>
            <p:ph type="title"/>
          </p:nvPr>
        </p:nvSpPr>
        <p:spPr>
          <a:xfrm>
            <a:off x="534364" y="731520"/>
            <a:ext cx="10058400" cy="1371600"/>
          </a:xfrm>
        </p:spPr>
        <p:txBody>
          <a:bodyPr/>
          <a:lstStyle/>
          <a:p>
            <a:r>
              <a:rPr lang="en-IN" b="1" dirty="0">
                <a:latin typeface="Times New Roman" panose="02020603050405020304" pitchFamily="18" charset="0"/>
                <a:cs typeface="Times New Roman" panose="02020603050405020304" pitchFamily="18" charset="0"/>
              </a:rPr>
              <a:t>Common Machine Learning Algorithms:</a:t>
            </a:r>
            <a:br>
              <a:rPr lang="en-IN" b="1" dirty="0">
                <a:latin typeface="Times New Roman" panose="02020603050405020304" pitchFamily="18" charset="0"/>
                <a:cs typeface="Times New Roman" panose="02020603050405020304" pitchFamily="18" charset="0"/>
              </a:rPr>
            </a:b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4C77C5F-8EF8-B05F-50F3-C1E4E82DE30C}"/>
              </a:ext>
            </a:extLst>
          </p:cNvPr>
          <p:cNvSpPr>
            <a:spLocks noGrp="1"/>
          </p:cNvSpPr>
          <p:nvPr>
            <p:ph idx="1"/>
          </p:nvPr>
        </p:nvSpPr>
        <p:spPr>
          <a:xfrm>
            <a:off x="395469" y="1871626"/>
            <a:ext cx="11401062" cy="4378703"/>
          </a:xfrm>
        </p:spPr>
        <p:txBody>
          <a:bodyPr>
            <a:normAutofit/>
          </a:bodyPr>
          <a:lstStyle/>
          <a:p>
            <a:r>
              <a:rPr lang="en-IN" sz="2000" dirty="0"/>
              <a:t>k-Nearest Neighbours (KNN): Compares new transactions with nearest past transactions</a:t>
            </a:r>
          </a:p>
          <a:p>
            <a:r>
              <a:rPr lang="en-IN" sz="2000" dirty="0"/>
              <a:t>Logistic Regression: Predicts probability of fraud based on transaction features</a:t>
            </a:r>
          </a:p>
          <a:p>
            <a:r>
              <a:rPr lang="en-IN" sz="2000" dirty="0"/>
              <a:t>Decision Trees &amp; Random Forest: Tree-based classification</a:t>
            </a:r>
          </a:p>
          <a:p>
            <a:r>
              <a:rPr lang="en-IN" sz="2000" dirty="0"/>
              <a:t>Naive Bayes: Uses probability theory for classification</a:t>
            </a:r>
          </a:p>
          <a:p>
            <a:r>
              <a:rPr lang="en-IN" sz="2000" dirty="0"/>
              <a:t>Deep Learning (DNN, CNN): Handles large, complex datasets; higher accuracy but more computation-intensive</a:t>
            </a:r>
          </a:p>
          <a:p>
            <a:r>
              <a:rPr lang="en-IN" sz="2000" dirty="0"/>
              <a:t>Boosting Algorithms (e.g., XGBoost, AdaBoost): Combine weak learners to improve prediction performance.</a:t>
            </a:r>
          </a:p>
          <a:p>
            <a:endParaRPr lang="en-IN" dirty="0"/>
          </a:p>
        </p:txBody>
      </p:sp>
    </p:spTree>
    <p:extLst>
      <p:ext uri="{BB962C8B-B14F-4D97-AF65-F5344CB8AC3E}">
        <p14:creationId xmlns:p14="http://schemas.microsoft.com/office/powerpoint/2010/main" val="4218753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739010E-B964-41A9-198F-D82CF7E5AA28}"/>
              </a:ext>
            </a:extLst>
          </p:cNvPr>
          <p:cNvSpPr>
            <a:spLocks noGrp="1"/>
          </p:cNvSpPr>
          <p:nvPr>
            <p:ph idx="1"/>
          </p:nvPr>
        </p:nvSpPr>
        <p:spPr>
          <a:xfrm flipH="1">
            <a:off x="407746" y="749098"/>
            <a:ext cx="11062765" cy="5721149"/>
          </a:xfrm>
        </p:spPr>
        <p:txBody>
          <a:bodyPr>
            <a:normAutofit fontScale="97500"/>
          </a:bodyPr>
          <a:lstStyle/>
          <a:p>
            <a:pPr marL="0" indent="0">
              <a:buNone/>
            </a:pPr>
            <a:r>
              <a:rPr lang="en-IN" sz="3300" b="1" dirty="0">
                <a:latin typeface="Times New Roman" panose="02020603050405020304" pitchFamily="18" charset="0"/>
                <a:cs typeface="Times New Roman" panose="02020603050405020304" pitchFamily="18" charset="0"/>
              </a:rPr>
              <a:t>Model Evaluation Metrics:</a:t>
            </a:r>
          </a:p>
          <a:p>
            <a:r>
              <a:rPr lang="en-IN" sz="2900" dirty="0"/>
              <a:t>Accuracy: Total correct predictions / all predictions</a:t>
            </a:r>
          </a:p>
          <a:p>
            <a:r>
              <a:rPr lang="en-IN" sz="2900" dirty="0"/>
              <a:t>Precision, Recall, F1-score: Evaluate performance on rare fraud cases</a:t>
            </a:r>
          </a:p>
          <a:p>
            <a:r>
              <a:rPr lang="en-IN" sz="2900" dirty="0"/>
              <a:t>Area Under Curve (AUC): Discriminative power of the model</a:t>
            </a:r>
          </a:p>
          <a:p>
            <a:pPr marL="0" indent="0">
              <a:buNone/>
            </a:pPr>
            <a:r>
              <a:rPr lang="en-IN" sz="3700" b="1" dirty="0">
                <a:latin typeface="Times New Roman" panose="02020603050405020304" pitchFamily="18" charset="0"/>
                <a:cs typeface="Times New Roman" panose="02020603050405020304" pitchFamily="18" charset="0"/>
              </a:rPr>
              <a:t> </a:t>
            </a:r>
            <a:r>
              <a:rPr lang="en-IN" sz="3300" b="1" dirty="0">
                <a:latin typeface="Times New Roman" panose="02020603050405020304" pitchFamily="18" charset="0"/>
                <a:cs typeface="Times New Roman" panose="02020603050405020304" pitchFamily="18" charset="0"/>
              </a:rPr>
              <a:t>Data and Preprocessing:</a:t>
            </a:r>
          </a:p>
          <a:p>
            <a:r>
              <a:rPr lang="en-IN" sz="2900" dirty="0"/>
              <a:t>Datasets contain features like Amount, Time, Transaction type.</a:t>
            </a:r>
          </a:p>
          <a:p>
            <a:r>
              <a:rPr lang="en-IN" sz="2900" dirty="0"/>
              <a:t>Data preprocessing: Feature engineering, handling missing values, balancing data (oversampling/under sampling/SMOTE)</a:t>
            </a:r>
          </a:p>
          <a:p>
            <a:endParaRPr lang="en-IN" dirty="0"/>
          </a:p>
        </p:txBody>
      </p:sp>
    </p:spTree>
    <p:extLst>
      <p:ext uri="{BB962C8B-B14F-4D97-AF65-F5344CB8AC3E}">
        <p14:creationId xmlns:p14="http://schemas.microsoft.com/office/powerpoint/2010/main" val="9000659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Content Placeholder 16">
            <a:extLst>
              <a:ext uri="{FF2B5EF4-FFF2-40B4-BE49-F238E27FC236}">
                <a16:creationId xmlns:a16="http://schemas.microsoft.com/office/drawing/2014/main" id="{86BFEE9C-0A27-5900-C637-091B0437ABA3}"/>
              </a:ext>
            </a:extLst>
          </p:cNvPr>
          <p:cNvPicPr>
            <a:picLocks noGrp="1" noChangeAspect="1"/>
          </p:cNvPicPr>
          <p:nvPr>
            <p:ph idx="1"/>
          </p:nvPr>
        </p:nvPicPr>
        <p:blipFill>
          <a:blip r:embed="rId2"/>
          <a:stretch>
            <a:fillRect/>
          </a:stretch>
        </p:blipFill>
        <p:spPr>
          <a:xfrm>
            <a:off x="0" y="0"/>
            <a:ext cx="12192000" cy="6858000"/>
          </a:xfrm>
        </p:spPr>
      </p:pic>
    </p:spTree>
    <p:extLst>
      <p:ext uri="{BB962C8B-B14F-4D97-AF65-F5344CB8AC3E}">
        <p14:creationId xmlns:p14="http://schemas.microsoft.com/office/powerpoint/2010/main" val="34483420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176BB-B180-AFA8-6D56-2DD8A0516BC7}"/>
              </a:ext>
            </a:extLst>
          </p:cNvPr>
          <p:cNvSpPr>
            <a:spLocks noGrp="1"/>
          </p:cNvSpPr>
          <p:nvPr>
            <p:ph type="title"/>
          </p:nvPr>
        </p:nvSpPr>
        <p:spPr>
          <a:xfrm>
            <a:off x="699477" y="905256"/>
            <a:ext cx="10058400" cy="365591"/>
          </a:xfrm>
        </p:spPr>
        <p:txBody>
          <a:bodyPr>
            <a:noAutofit/>
          </a:bodyPr>
          <a:lstStyle/>
          <a:p>
            <a:r>
              <a:rPr lang="en-US" sz="2800" b="1" dirty="0">
                <a:latin typeface="Times New Roman" panose="02020603050405020304" pitchFamily="18" charset="0"/>
                <a:cs typeface="Times New Roman" panose="02020603050405020304" pitchFamily="18" charset="0"/>
              </a:rPr>
              <a:t>Architectures and Optimization Parameters of Existing Systems</a:t>
            </a:r>
            <a:br>
              <a:rPr lang="en-US" sz="2800" b="1" dirty="0">
                <a:latin typeface="Times New Roman" panose="02020603050405020304" pitchFamily="18" charset="0"/>
                <a:cs typeface="Times New Roman" panose="02020603050405020304" pitchFamily="18" charset="0"/>
              </a:rPr>
            </a:br>
            <a:endParaRPr lang="en-IN"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C38E77E-7E2F-48C3-64A2-E7BB16A38546}"/>
              </a:ext>
            </a:extLst>
          </p:cNvPr>
          <p:cNvSpPr>
            <a:spLocks noGrp="1"/>
          </p:cNvSpPr>
          <p:nvPr>
            <p:ph idx="1"/>
          </p:nvPr>
        </p:nvSpPr>
        <p:spPr>
          <a:xfrm>
            <a:off x="570523" y="1270847"/>
            <a:ext cx="10554677" cy="4973645"/>
          </a:xfrm>
        </p:spPr>
        <p:txBody>
          <a:bodyPr/>
          <a:lstStyle/>
          <a:p>
            <a:r>
              <a:rPr lang="en-US" dirty="0"/>
              <a:t>Existing fraud detection systems commonly use machine learning models like Random Forest, XGBoost, and sometimes Neural Networks. Their architecture includes:</a:t>
            </a:r>
          </a:p>
          <a:p>
            <a:r>
              <a:rPr lang="en-US" dirty="0"/>
              <a:t>Input Layer: Takes preprocessed transaction data including PCA features (V1–V28), transaction time, and amount.</a:t>
            </a:r>
          </a:p>
          <a:p>
            <a:r>
              <a:rPr lang="en-US" dirty="0"/>
              <a:t>Model Layers: Ensemble learning methods like Random Forest combine multiple decision trees, while XGBoost applies gradient boosting to improve predictions.</a:t>
            </a:r>
          </a:p>
          <a:p>
            <a:r>
              <a:rPr lang="en-US" dirty="0"/>
              <a:t>Output Layer: Provides classification of transactions as fraudulent or legitimate along with a confidence score.</a:t>
            </a:r>
          </a:p>
          <a:p>
            <a:pPr marL="0" indent="0">
              <a:buNone/>
            </a:pPr>
            <a:r>
              <a:rPr lang="en-US" sz="1600" b="1" dirty="0"/>
              <a:t>Optimization Parameters used:</a:t>
            </a:r>
          </a:p>
          <a:p>
            <a:r>
              <a:rPr lang="en-US" dirty="0"/>
              <a:t>Number of trees in Random Forest (e.g., 100 to 500)</a:t>
            </a:r>
          </a:p>
          <a:p>
            <a:r>
              <a:rPr lang="en-US" dirty="0"/>
              <a:t>Maximum depth of trees (e.g., 5 to 15)</a:t>
            </a:r>
          </a:p>
          <a:p>
            <a:r>
              <a:rPr lang="en-US" dirty="0"/>
              <a:t>Learning rate for XGBoost (e.g., 0.01 to 0.3)</a:t>
            </a:r>
          </a:p>
          <a:p>
            <a:r>
              <a:rPr lang="en-US" dirty="0"/>
              <a:t>Number of boosting rounds in XGBoost (e.g., 100 to 1000)</a:t>
            </a:r>
          </a:p>
          <a:p>
            <a:r>
              <a:rPr lang="en-US" dirty="0"/>
              <a:t>Regularization parameters to reduce overfitting</a:t>
            </a:r>
          </a:p>
          <a:p>
            <a:pPr marL="0" indent="0">
              <a:buNone/>
            </a:pPr>
            <a:endParaRPr lang="en-IN" dirty="0"/>
          </a:p>
        </p:txBody>
      </p:sp>
    </p:spTree>
    <p:extLst>
      <p:ext uri="{BB962C8B-B14F-4D97-AF65-F5344CB8AC3E}">
        <p14:creationId xmlns:p14="http://schemas.microsoft.com/office/powerpoint/2010/main" val="36866726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5CE99-7D07-5CE4-17A6-AAC746E6CD70}"/>
              </a:ext>
            </a:extLst>
          </p:cNvPr>
          <p:cNvSpPr>
            <a:spLocks noGrp="1"/>
          </p:cNvSpPr>
          <p:nvPr>
            <p:ph type="title"/>
          </p:nvPr>
        </p:nvSpPr>
        <p:spPr>
          <a:xfrm>
            <a:off x="410308" y="628676"/>
            <a:ext cx="10058400" cy="553160"/>
          </a:xfrm>
        </p:spPr>
        <p:txBody>
          <a:bodyPr>
            <a:normAutofit fontScale="90000"/>
          </a:bodyPr>
          <a:lstStyle/>
          <a:p>
            <a:r>
              <a:rPr lang="en-US" dirty="0">
                <a:latin typeface="Times New Roman" panose="02020603050405020304" pitchFamily="18" charset="0"/>
                <a:cs typeface="Times New Roman" panose="02020603050405020304" pitchFamily="18" charset="0"/>
              </a:rPr>
              <a:t>Proposed Model Architecture and Optimization Parameters</a:t>
            </a:r>
            <a:br>
              <a:rPr lang="en-US"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D3D7B67-7A10-1EFC-4189-35EC1912C740}"/>
              </a:ext>
            </a:extLst>
          </p:cNvPr>
          <p:cNvSpPr>
            <a:spLocks noGrp="1"/>
          </p:cNvSpPr>
          <p:nvPr>
            <p:ph idx="1"/>
          </p:nvPr>
        </p:nvSpPr>
        <p:spPr>
          <a:xfrm>
            <a:off x="468923" y="1391138"/>
            <a:ext cx="10656277" cy="4561606"/>
          </a:xfrm>
        </p:spPr>
        <p:txBody>
          <a:bodyPr>
            <a:normAutofit lnSpcReduction="10000"/>
          </a:bodyPr>
          <a:lstStyle/>
          <a:p>
            <a:pPr marL="0" indent="0">
              <a:buNone/>
            </a:pPr>
            <a:r>
              <a:rPr lang="en-US" sz="1600" b="1" dirty="0"/>
              <a:t>Proposed Architecture:</a:t>
            </a:r>
          </a:p>
          <a:p>
            <a:r>
              <a:rPr lang="en-US" dirty="0"/>
              <a:t>Data Input &amp; Preprocessing: Normalize data, apply PCA, and balance classes using SMOTE.</a:t>
            </a:r>
          </a:p>
          <a:p>
            <a:r>
              <a:rPr lang="en-US" dirty="0"/>
              <a:t>Feature Selection: Use correlation analysis to choose top features.</a:t>
            </a:r>
          </a:p>
          <a:p>
            <a:r>
              <a:rPr lang="en-US" dirty="0"/>
              <a:t>Model: An ensemble combining Random Forest and XGBoost for robust detection.</a:t>
            </a:r>
          </a:p>
          <a:p>
            <a:r>
              <a:rPr lang="en-US" dirty="0"/>
              <a:t>Output: Class (Fraud/Legitimate), fraud probability, and risk score.</a:t>
            </a:r>
          </a:p>
          <a:p>
            <a:r>
              <a:rPr lang="en-US" dirty="0"/>
              <a:t>Adaptation Layer: Periodic retraining based on new data for evolving pattern recognition.</a:t>
            </a:r>
          </a:p>
          <a:p>
            <a:pPr marL="0" indent="0">
              <a:buNone/>
            </a:pPr>
            <a:r>
              <a:rPr lang="en-US" sz="1600" b="1" dirty="0"/>
              <a:t>Optimization Parameters</a:t>
            </a:r>
            <a:r>
              <a:rPr lang="en-US" dirty="0"/>
              <a:t>:</a:t>
            </a:r>
          </a:p>
          <a:p>
            <a:r>
              <a:rPr lang="en-US" dirty="0"/>
              <a:t>Random Forest:</a:t>
            </a:r>
          </a:p>
          <a:p>
            <a:pPr lvl="1"/>
            <a:r>
              <a:rPr lang="en-US" dirty="0"/>
              <a:t>Number of Trees: 200</a:t>
            </a:r>
          </a:p>
          <a:p>
            <a:pPr lvl="1"/>
            <a:r>
              <a:rPr lang="en-US" dirty="0"/>
              <a:t>Max Depth: 10</a:t>
            </a:r>
          </a:p>
          <a:p>
            <a:r>
              <a:rPr lang="en-US" dirty="0"/>
              <a:t>XGBoost:</a:t>
            </a:r>
          </a:p>
          <a:p>
            <a:pPr lvl="1"/>
            <a:r>
              <a:rPr lang="en-US" dirty="0"/>
              <a:t>Learning Rate: 0.1</a:t>
            </a:r>
          </a:p>
          <a:p>
            <a:pPr lvl="1"/>
            <a:r>
              <a:rPr lang="en-US" dirty="0"/>
              <a:t>Boosting Rounds: 500</a:t>
            </a:r>
          </a:p>
          <a:p>
            <a:pPr lvl="1"/>
            <a:r>
              <a:rPr lang="en-US" dirty="0"/>
              <a:t>Regularization (lambda): 1</a:t>
            </a:r>
          </a:p>
          <a:p>
            <a:pPr marL="0" indent="0">
              <a:buNone/>
            </a:pPr>
            <a:endParaRPr lang="en-IN" dirty="0"/>
          </a:p>
        </p:txBody>
      </p:sp>
    </p:spTree>
    <p:extLst>
      <p:ext uri="{BB962C8B-B14F-4D97-AF65-F5344CB8AC3E}">
        <p14:creationId xmlns:p14="http://schemas.microsoft.com/office/powerpoint/2010/main" val="42001139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FE81E15-59B0-9461-445E-1B6C0A121330}"/>
              </a:ext>
            </a:extLst>
          </p:cNvPr>
          <p:cNvPicPr>
            <a:picLocks noChangeAspect="1"/>
          </p:cNvPicPr>
          <p:nvPr/>
        </p:nvPicPr>
        <p:blipFill>
          <a:blip r:embed="rId2"/>
          <a:stretch>
            <a:fillRect/>
          </a:stretch>
        </p:blipFill>
        <p:spPr>
          <a:xfrm>
            <a:off x="382954" y="359508"/>
            <a:ext cx="11457354" cy="6127261"/>
          </a:xfrm>
          <a:prstGeom prst="rect">
            <a:avLst/>
          </a:prstGeom>
        </p:spPr>
      </p:pic>
    </p:spTree>
    <p:extLst>
      <p:ext uri="{BB962C8B-B14F-4D97-AF65-F5344CB8AC3E}">
        <p14:creationId xmlns:p14="http://schemas.microsoft.com/office/powerpoint/2010/main" val="3759335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BBCEB-6FC4-1C6D-43F4-CC065ABC1DEE}"/>
              </a:ext>
            </a:extLst>
          </p:cNvPr>
          <p:cNvSpPr>
            <a:spLocks noGrp="1"/>
          </p:cNvSpPr>
          <p:nvPr>
            <p:ph type="title"/>
          </p:nvPr>
        </p:nvSpPr>
        <p:spPr/>
        <p:txBody>
          <a:bodyPr>
            <a:normAutofit/>
          </a:bodyPr>
          <a:lstStyle/>
          <a:p>
            <a:r>
              <a:rPr lang="en-IN" sz="5400"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45DD4B82-8266-C821-664E-1A3189A73B2C}"/>
              </a:ext>
            </a:extLst>
          </p:cNvPr>
          <p:cNvSpPr>
            <a:spLocks noGrp="1"/>
          </p:cNvSpPr>
          <p:nvPr>
            <p:ph idx="1"/>
          </p:nvPr>
        </p:nvSpPr>
        <p:spPr>
          <a:xfrm>
            <a:off x="453342" y="1755879"/>
            <a:ext cx="10058400" cy="3849624"/>
          </a:xfrm>
        </p:spPr>
        <p:txBody>
          <a:bodyPr>
            <a:noAutofit/>
          </a:bodyPr>
          <a:lstStyle/>
          <a:p>
            <a:r>
              <a:rPr lang="en-US" sz="2800" dirty="0"/>
              <a:t>Credit card fraud detection is essential to safeguard digital transactions and financial data. Machine learning and advanced analytics significantly enhance the identification and prevention of fraudulent activities. Ongoing innovation and adaptive strategies are crucial for staying ahead of evolving fraud tactics.</a:t>
            </a:r>
            <a:endParaRPr lang="en-IN" sz="2800" dirty="0"/>
          </a:p>
        </p:txBody>
      </p:sp>
    </p:spTree>
    <p:extLst>
      <p:ext uri="{BB962C8B-B14F-4D97-AF65-F5344CB8AC3E}">
        <p14:creationId xmlns:p14="http://schemas.microsoft.com/office/powerpoint/2010/main" val="380831653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VTI">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Savon">
      <a:majorFont>
        <a:latin typeface="Sagona ExtraLight"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Sagona Book"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VTI" id="{A72E8C35-66DD-49F8-AF66-813F19B983AE}" vid="{93CCBC76-B7A1-4C3D-93EA-5CE34C4670F9}"/>
    </a:ext>
  </a:extLst>
</a:theme>
</file>

<file path=ppt/theme/themeOverride1.xml><?xml version="1.0" encoding="utf-8"?>
<a:themeOverride xmlns:a="http://schemas.openxmlformats.org/drawingml/2006/main">
  <a:clrScheme name="Marquee">
    <a:dk1>
      <a:srgbClr val="000000"/>
    </a:dk1>
    <a:lt1>
      <a:sysClr val="window" lastClr="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themeOverride>
</file>

<file path=ppt/theme/themeOverride2.xml><?xml version="1.0" encoding="utf-8"?>
<a:themeOverride xmlns:a="http://schemas.openxmlformats.org/drawingml/2006/main">
  <a:clrScheme name="Marquee">
    <a:dk1>
      <a:srgbClr val="000000"/>
    </a:dk1>
    <a:lt1>
      <a:sysClr val="window" lastClr="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E2713E1-6312-427E-BFCB-C5A5DA301373}">
  <ds:schemaRefs>
    <ds:schemaRef ds:uri="http://schemas.microsoft.com/sharepoint/v3/contenttype/forms"/>
  </ds:schemaRefs>
</ds:datastoreItem>
</file>

<file path=customXml/itemProps2.xml><?xml version="1.0" encoding="utf-8"?>
<ds:datastoreItem xmlns:ds="http://schemas.openxmlformats.org/officeDocument/2006/customXml" ds:itemID="{52F3B215-496E-4790-A364-7C1C46DEC771}">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50DB95DD-0319-4EE5-8C5C-9CEDF75E024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{0C41120A-827C-4C2D-9E1B-EF029D54813C}tf78829772_win32</Template>
  <TotalTime>272</TotalTime>
  <Words>667</Words>
  <Application>Microsoft Office PowerPoint</Application>
  <PresentationFormat>Widescreen</PresentationFormat>
  <Paragraphs>74</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Bahnschrift</vt:lpstr>
      <vt:lpstr>Garamond</vt:lpstr>
      <vt:lpstr>Sagona Book</vt:lpstr>
      <vt:lpstr>Sagona ExtraLight</vt:lpstr>
      <vt:lpstr>Space Grotesk</vt:lpstr>
      <vt:lpstr>Times New Roman</vt:lpstr>
      <vt:lpstr>SavonVTI</vt:lpstr>
      <vt:lpstr>Credit Card Fraud Detection</vt:lpstr>
      <vt:lpstr>Table of Contents</vt:lpstr>
      <vt:lpstr>INTRODUCTION:</vt:lpstr>
      <vt:lpstr>PowerPoint Presentation</vt:lpstr>
      <vt:lpstr>Common Machine Learning Algorithms: </vt:lpstr>
      <vt:lpstr>PowerPoint Presentation</vt:lpstr>
      <vt:lpstr>PowerPoint Presentation</vt:lpstr>
      <vt:lpstr>Architectures and Optimization Parameters of Existing Systems </vt:lpstr>
      <vt:lpstr>Proposed Model Architecture and Optimization Parameters </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sai krish</dc:creator>
  <cp:lastModifiedBy>Lalith kumar</cp:lastModifiedBy>
  <cp:revision>3</cp:revision>
  <dcterms:created xsi:type="dcterms:W3CDTF">2025-08-01T08:08:07Z</dcterms:created>
  <dcterms:modified xsi:type="dcterms:W3CDTF">2025-10-24T08:52:11Z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